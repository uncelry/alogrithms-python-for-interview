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4" r:id="rId4"/>
    <p:sldId id="275" r:id="rId5"/>
    <p:sldId id="262" r:id="rId6"/>
    <p:sldId id="263" r:id="rId7"/>
    <p:sldId id="267" r:id="rId8"/>
    <p:sldId id="264" r:id="rId9"/>
    <p:sldId id="277" r:id="rId10"/>
    <p:sldId id="278" r:id="rId11"/>
    <p:sldId id="276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96" autoAdjust="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64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Алгоритмы</a:t>
            </a:r>
            <a:r>
              <a:rPr dirty="0"/>
              <a:t> и </a:t>
            </a:r>
            <a:r>
              <a:rPr dirty="0" err="1"/>
              <a:t>структуры</a:t>
            </a:r>
            <a:r>
              <a:rPr dirty="0"/>
              <a:t> </a:t>
            </a:r>
            <a:r>
              <a:rPr dirty="0" err="1"/>
              <a:t>данных</a:t>
            </a:r>
            <a:endParaRPr dirty="0"/>
          </a:p>
          <a:p>
            <a:r>
              <a:rPr dirty="0" err="1"/>
              <a:t>Занятие</a:t>
            </a:r>
            <a:r>
              <a:rPr dirty="0"/>
              <a:t> 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Бинарный поиск по ответу</a:t>
            </a:r>
          </a:p>
          <a:p>
            <a:r>
              <a:rPr lang="ru-RU" dirty="0"/>
              <a:t>Массивы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изучить ограничения линейного поиска</a:t>
            </a:r>
          </a:p>
          <a:p>
            <a:r>
              <a:rPr lang="ru-RU" dirty="0"/>
              <a:t>осознать </a:t>
            </a:r>
            <a:r>
              <a:rPr lang="ru-RU" b="1" dirty="0"/>
              <a:t>идею бинарного поиска концептуально</a:t>
            </a:r>
          </a:p>
          <a:p>
            <a:r>
              <a:rPr lang="ru-RU" dirty="0"/>
              <a:t>понять классический бинарный поиск и его сложность</a:t>
            </a:r>
          </a:p>
          <a:p>
            <a:r>
              <a:rPr lang="ru-RU" dirty="0"/>
              <a:t>узнать об области применения бинарного поиска</a:t>
            </a:r>
          </a:p>
          <a:p>
            <a:r>
              <a:rPr lang="ru-RU" dirty="0"/>
              <a:t>научиться распознавать монотонность в задачах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496D1-159D-39EF-9CC2-40ED888F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82B6-57CE-70C1-3718-4DAB62C7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бинарного поиска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ACBF1-4F65-7A90-2A79-43EA563D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4"/>
                </a:solidFill>
                <a:effectLst/>
                <a:latin typeface="SFMono-Regular"/>
              </a:rPr>
              <a:t>def condition(value) -&gt; bool:</a:t>
            </a:r>
          </a:p>
          <a:p>
            <a:pPr algn="l" latinLnBrk="1">
              <a:buNone/>
            </a:pPr>
            <a:r>
              <a:rPr lang="en-US" b="0" i="0" dirty="0">
                <a:solidFill>
                  <a:schemeClr val="accent4"/>
                </a:solidFill>
                <a:effectLst/>
                <a:latin typeface="SFMono-Regular"/>
              </a:rPr>
              <a:t>        pass</a:t>
            </a:r>
          </a:p>
          <a:p>
            <a:pPr algn="l" latinLnBrk="1">
              <a:buNone/>
            </a:pPr>
            <a:endParaRPr lang="en-US" b="0" i="0" dirty="0">
              <a:solidFill>
                <a:srgbClr val="263238"/>
              </a:solidFill>
              <a:effectLst/>
              <a:latin typeface="SFMono-Regular"/>
            </a:endParaRP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left, right = min(</a:t>
            </a:r>
            <a:r>
              <a:rPr lang="en-US" b="0" i="0" dirty="0" err="1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search_space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), max(</a:t>
            </a:r>
            <a:r>
              <a:rPr lang="en-US" b="0" i="0" dirty="0" err="1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search_space</a:t>
            </a:r>
            <a:r>
              <a:rPr lang="en-US" b="0" i="0" dirty="0">
                <a:solidFill>
                  <a:schemeClr val="accent3">
                    <a:lumMod val="75000"/>
                  </a:schemeClr>
                </a:solidFill>
                <a:effectLst/>
                <a:latin typeface="SFMono-Regular"/>
              </a:rPr>
              <a:t>) </a:t>
            </a:r>
            <a:endParaRPr lang="ru-RU" b="0" i="0" dirty="0">
              <a:solidFill>
                <a:schemeClr val="accent3">
                  <a:lumMod val="75000"/>
                </a:schemeClr>
              </a:solidFill>
              <a:effectLst/>
              <a:latin typeface="SFMono-Regular"/>
            </a:endParaRPr>
          </a:p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while left &lt; right: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mid = left + (right - left) // 2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if condition(mid):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    right = mid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else: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        left = mid + 1</a:t>
            </a:r>
          </a:p>
          <a:p>
            <a:pPr algn="l" latinLnBrk="1">
              <a:buNone/>
            </a:pP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    </a:t>
            </a:r>
            <a:r>
              <a:rPr lang="en-US" b="0" i="0" dirty="0">
                <a:solidFill>
                  <a:schemeClr val="accent2"/>
                </a:solidFill>
                <a:effectLst/>
                <a:latin typeface="SFMono-Regular"/>
              </a:rPr>
              <a:t>return left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409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8673-2935-F7F9-8600-AF255F187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01669-C3DD-0D3A-F617-9C83BBBC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 бинарного поиска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E1BFA-CAF7-37A4-E8B7-4214AA55F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319247" cy="4525963"/>
          </a:xfrm>
        </p:spPr>
        <p:txBody>
          <a:bodyPr>
            <a:normAutofit/>
          </a:bodyPr>
          <a:lstStyle/>
          <a:p>
            <a:pPr algn="l" latinLnBrk="1">
              <a:buNone/>
            </a:pPr>
            <a:r>
              <a:rPr lang="ru-RU" b="0" i="0" dirty="0">
                <a:solidFill>
                  <a:srgbClr val="263238"/>
                </a:solidFill>
                <a:effectLst/>
                <a:latin typeface="SFMono-Regular"/>
              </a:rPr>
              <a:t>    Надо правильно реализовать 3 части</a:t>
            </a:r>
            <a:r>
              <a:rPr lang="en-US" b="0" i="0" dirty="0">
                <a:solidFill>
                  <a:srgbClr val="263238"/>
                </a:solidFill>
                <a:effectLst/>
                <a:latin typeface="SFMono-Regular"/>
              </a:rPr>
              <a:t>:</a:t>
            </a:r>
            <a:endParaRPr lang="ru-RU" b="0" i="0" dirty="0">
              <a:solidFill>
                <a:srgbClr val="263238"/>
              </a:solidFill>
              <a:effectLst/>
              <a:latin typeface="SFMono-Regular"/>
            </a:endParaRP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3"/>
                </a:solidFill>
                <a:latin typeface="SFMono-Regular"/>
              </a:rPr>
              <a:t>Границы (</a:t>
            </a:r>
            <a:r>
              <a:rPr lang="en-US" dirty="0">
                <a:solidFill>
                  <a:schemeClr val="accent3"/>
                </a:solidFill>
                <a:latin typeface="SFMono-Regular"/>
              </a:rPr>
              <a:t>left, right)</a:t>
            </a:r>
            <a:r>
              <a:rPr lang="en-US" dirty="0">
                <a:solidFill>
                  <a:srgbClr val="263238"/>
                </a:solidFill>
                <a:latin typeface="SFMono-Regular"/>
              </a:rPr>
              <a:t>. </a:t>
            </a:r>
            <a:r>
              <a:rPr lang="ru-RU" dirty="0">
                <a:solidFill>
                  <a:srgbClr val="263238"/>
                </a:solidFill>
                <a:latin typeface="SFMono-Regular"/>
              </a:rPr>
              <a:t>Должны включать </a:t>
            </a:r>
            <a:r>
              <a:rPr lang="ru-RU" b="1" dirty="0">
                <a:solidFill>
                  <a:srgbClr val="263238"/>
                </a:solidFill>
                <a:latin typeface="SFMono-Regular"/>
              </a:rPr>
              <a:t>все   возможные значения поиска</a:t>
            </a: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2"/>
                </a:solidFill>
              </a:rPr>
              <a:t>Возвращаемое значение </a:t>
            </a:r>
            <a:r>
              <a:rPr lang="ru-RU" dirty="0"/>
              <a:t>(</a:t>
            </a:r>
            <a:r>
              <a:rPr lang="en-US" dirty="0"/>
              <a:t>left, left-1)</a:t>
            </a:r>
            <a:r>
              <a:rPr lang="ru-RU" dirty="0"/>
              <a:t>.</a:t>
            </a:r>
            <a:r>
              <a:rPr lang="en-US" dirty="0"/>
              <a:t> </a:t>
            </a:r>
            <a:r>
              <a:rPr lang="ru-RU" dirty="0"/>
              <a:t>После выхода из цикла, </a:t>
            </a:r>
            <a:r>
              <a:rPr lang="en-US" b="1" dirty="0"/>
              <a:t>left – </a:t>
            </a:r>
            <a:r>
              <a:rPr lang="ru-RU" b="1" dirty="0"/>
              <a:t>это минимальный     элемент, удовлетворяющий условию </a:t>
            </a:r>
          </a:p>
          <a:p>
            <a:pPr marL="514350" indent="-514350" algn="l" latinLnBrk="1">
              <a:buAutoNum type="arabicPeriod"/>
            </a:pPr>
            <a:r>
              <a:rPr lang="ru-RU" dirty="0">
                <a:solidFill>
                  <a:schemeClr val="accent4"/>
                </a:solidFill>
              </a:rPr>
              <a:t>Функция проверки условия</a:t>
            </a:r>
            <a:r>
              <a:rPr lang="ru-RU" dirty="0"/>
              <a:t>. Это самая         сложная часть – требует много практики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694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Обобщённая формулировка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Бинарный поиск – это про поиск в массиве. </a:t>
            </a:r>
            <a:r>
              <a:rPr lang="ru-RU" b="1" dirty="0"/>
              <a:t>Это совсем не так</a:t>
            </a:r>
            <a:r>
              <a:rPr lang="ru-RU" dirty="0"/>
              <a:t>. У него гораздо больше применений в задачах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Практически все задачи бинарного поиска можно привести к форме (даже неочевидные)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ru-RU" b="1" dirty="0"/>
              <a:t>Найти минимальное k, такое что</a:t>
            </a:r>
          </a:p>
          <a:p>
            <a:pPr marL="0" indent="0">
              <a:buNone/>
            </a:pPr>
            <a:r>
              <a:rPr lang="ru-RU" b="1" dirty="0"/>
              <a:t>condition(k) == True</a:t>
            </a: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Монотонность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Когда можно применить бинарный поиск?</a:t>
            </a:r>
          </a:p>
          <a:p>
            <a:r>
              <a:rPr lang="ru-RU" dirty="0"/>
              <a:t>Если есть монотонность — возможен бинарный поиск</a:t>
            </a:r>
          </a:p>
          <a:p>
            <a:r>
              <a:rPr dirty="0"/>
              <a:t>False, False, False, True, True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Именно поэтому очень важно научиться создавать верные функции-проверки для бинарного поиска. </a:t>
            </a:r>
            <a:r>
              <a:rPr lang="ru-RU" b="1" dirty="0"/>
              <a:t>Именно они создают монотонность</a:t>
            </a:r>
            <a:endParaRPr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Процесс на собеседовании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Понять условие</a:t>
            </a:r>
          </a:p>
          <a:p>
            <a:r>
              <a:t>Придумать condition</a:t>
            </a:r>
          </a:p>
          <a:p>
            <a:r>
              <a:t>Определить границы</a:t>
            </a:r>
          </a:p>
          <a:p>
            <a:r>
              <a:t>Подтвердить решение</a:t>
            </a:r>
          </a:p>
          <a:p>
            <a:r>
              <a:t>Только потом код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Массивы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непрерывный блок памяти</a:t>
            </a:r>
          </a:p>
          <a:p>
            <a:r>
              <a:rPr lang="ru-RU" dirty="0">
                <a:latin typeface="-apple-system"/>
              </a:rPr>
              <a:t>доступ по индексу за O(1)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54EB34-0676-423F-EF82-BBC8F84DE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8371"/>
            <a:ext cx="9144000" cy="19594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0F50-64D5-A71D-E3FF-CEBF67A32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47C59-0AEB-FCD9-2236-EE1341F6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операций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9766-1910-95A1-FF37-FF35FB4C1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Доступ по индексу</a:t>
            </a:r>
            <a:r>
              <a:rPr lang="en-US" dirty="0">
                <a:latin typeface="-apple-system"/>
              </a:rPr>
              <a:t> O(1)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Изменение элемента</a:t>
            </a:r>
            <a:r>
              <a:rPr lang="en-US" dirty="0">
                <a:latin typeface="-apple-system"/>
              </a:rPr>
              <a:t> O(1)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Вставка в конец</a:t>
            </a:r>
            <a:r>
              <a:rPr lang="en-US" dirty="0">
                <a:latin typeface="-apple-system"/>
              </a:rPr>
              <a:t> O(1)*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Вставка</a:t>
            </a:r>
            <a:r>
              <a:rPr lang="en-US" dirty="0">
                <a:latin typeface="-apple-system"/>
              </a:rPr>
              <a:t>/</a:t>
            </a:r>
            <a:r>
              <a:rPr lang="ru-RU" dirty="0">
                <a:latin typeface="-apple-system"/>
              </a:rPr>
              <a:t>Удаление в начало/середину</a:t>
            </a:r>
            <a:r>
              <a:rPr lang="en-US" dirty="0">
                <a:latin typeface="-apple-system"/>
              </a:rPr>
              <a:t> O(N)</a:t>
            </a:r>
            <a:endParaRPr lang="ru-RU" dirty="0">
              <a:latin typeface="-apple-system"/>
            </a:endParaRPr>
          </a:p>
          <a:p>
            <a:r>
              <a:rPr lang="ru-RU" dirty="0">
                <a:latin typeface="-apple-system"/>
              </a:rPr>
              <a:t>Удаление из конца </a:t>
            </a:r>
            <a:r>
              <a:rPr lang="en-US" dirty="0">
                <a:latin typeface="-apple-system"/>
              </a:rPr>
              <a:t>O(1)*</a:t>
            </a:r>
          </a:p>
          <a:p>
            <a:endParaRPr lang="en-US" dirty="0">
              <a:latin typeface="-apple-system"/>
            </a:endParaRPr>
          </a:p>
          <a:p>
            <a:pPr marL="0" indent="0">
              <a:buNone/>
            </a:pPr>
            <a:r>
              <a:rPr lang="en-US" dirty="0">
                <a:latin typeface="-apple-system"/>
              </a:rPr>
              <a:t>* - </a:t>
            </a:r>
            <a:r>
              <a:rPr lang="ru-RU" dirty="0">
                <a:latin typeface="-apple-system"/>
              </a:rPr>
              <a:t>амортизированная сложность</a:t>
            </a:r>
            <a:endParaRPr lang="en-US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7398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A5DC2-A7DB-E671-B374-8A9AB169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D5B74-5101-75CC-7A28-D0D19AC09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Амортизированная сложность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6CD9B-8CBA-E13C-79D1-199578498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-apple-system"/>
              </a:rPr>
              <a:t>массив увеличивается не на 1 элемент, а с запасом</a:t>
            </a:r>
          </a:p>
          <a:p>
            <a:r>
              <a:rPr lang="ru-RU" dirty="0">
                <a:latin typeface="-apple-system"/>
              </a:rPr>
              <a:t>иногда происходит копирование всего массива   </a:t>
            </a:r>
          </a:p>
          <a:p>
            <a:r>
              <a:rPr lang="ru-RU" dirty="0">
                <a:latin typeface="-apple-system"/>
              </a:rPr>
              <a:t>но в среднем `append` — O(1)</a:t>
            </a:r>
            <a:endParaRPr lang="en-US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54777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262F-B196-8358-1FDC-020DF997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5C06F-DEF5-8600-183E-39CECB574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Пример</a:t>
            </a:r>
            <a:r>
              <a:rPr lang="ru-RU" dirty="0"/>
              <a:t>ы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411F9-4615-EAA1-3F03-88B656E03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err="1">
                <a:latin typeface="-apple-system"/>
              </a:rPr>
              <a:t>LeetCode</a:t>
            </a:r>
            <a:r>
              <a:rPr lang="en-US" dirty="0">
                <a:latin typeface="-apple-system"/>
              </a:rPr>
              <a:t> 268 Missing Number</a:t>
            </a:r>
          </a:p>
          <a:p>
            <a:pPr marL="514350" indent="-514350">
              <a:buAutoNum type="arabicPeriod"/>
            </a:pPr>
            <a:r>
              <a:rPr lang="en-US" dirty="0" err="1"/>
              <a:t>LeetCode</a:t>
            </a:r>
            <a:r>
              <a:rPr lang="en-US" dirty="0"/>
              <a:t> 53. Maximum Subarray</a:t>
            </a:r>
            <a:endParaRPr lang="ru-RU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761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Бинарный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— </a:t>
            </a:r>
            <a:r>
              <a:rPr dirty="0" err="1"/>
              <a:t>универсальный</a:t>
            </a:r>
            <a:r>
              <a:rPr dirty="0"/>
              <a:t> </a:t>
            </a:r>
            <a:r>
              <a:rPr dirty="0" err="1"/>
              <a:t>приём</a:t>
            </a:r>
            <a:endParaRPr dirty="0"/>
          </a:p>
          <a:p>
            <a:r>
              <a:rPr dirty="0" err="1"/>
              <a:t>Ключ</a:t>
            </a:r>
            <a:r>
              <a:rPr dirty="0"/>
              <a:t>: </a:t>
            </a:r>
            <a:r>
              <a:rPr dirty="0" err="1"/>
              <a:t>монотонность</a:t>
            </a:r>
            <a:r>
              <a:rPr dirty="0"/>
              <a:t> + </a:t>
            </a:r>
            <a:r>
              <a:rPr dirty="0" err="1"/>
              <a:t>границы</a:t>
            </a:r>
            <a:endParaRPr lang="en-US" dirty="0"/>
          </a:p>
          <a:p>
            <a:r>
              <a:rPr lang="ru-RU" dirty="0"/>
              <a:t>Посмотрели устройство массивов внутри</a:t>
            </a:r>
          </a:p>
          <a:p>
            <a:r>
              <a:rPr lang="ru-RU" dirty="0"/>
              <a:t>Узнали сложности массивов</a:t>
            </a:r>
          </a:p>
          <a:p>
            <a:r>
              <a:rPr lang="ru-RU" dirty="0"/>
              <a:t>Посмотрели задачи на массивы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385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-apple-system</vt:lpstr>
      <vt:lpstr>Arial</vt:lpstr>
      <vt:lpstr>Calibri</vt:lpstr>
      <vt:lpstr>SFMono-Regular</vt:lpstr>
      <vt:lpstr>Office Theme</vt:lpstr>
      <vt:lpstr>Алгоритмы и структуры данных Занятие 5</vt:lpstr>
      <vt:lpstr>Цели занятия</vt:lpstr>
      <vt:lpstr>Шаблон бинарного поиска</vt:lpstr>
      <vt:lpstr>Шаблон бинарного поиска</vt:lpstr>
      <vt:lpstr>Обобщённая формулировка</vt:lpstr>
      <vt:lpstr>Монотонность</vt:lpstr>
      <vt:lpstr>Процесс на собеседовании</vt:lpstr>
      <vt:lpstr>Массивы</vt:lpstr>
      <vt:lpstr>Сложность операций</vt:lpstr>
      <vt:lpstr>Амортизированная сложность</vt:lpstr>
      <vt:lpstr>Примеры</vt:lpstr>
      <vt:lpstr>Итоги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9</cp:revision>
  <dcterms:created xsi:type="dcterms:W3CDTF">2013-01-27T09:14:16Z</dcterms:created>
  <dcterms:modified xsi:type="dcterms:W3CDTF">2026-01-17T07:31:05Z</dcterms:modified>
  <cp:category/>
</cp:coreProperties>
</file>