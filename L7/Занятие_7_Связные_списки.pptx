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"/>
    <p:sldId id="256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80" r:id="rId12"/>
    <p:sldId id="281" r:id="rId13"/>
    <p:sldId id="279" r:id="rId14"/>
    <p:sldId id="282" r:id="rId15"/>
    <p:sldId id="283" r:id="rId16"/>
    <p:sldId id="284" r:id="rId17"/>
    <p:sldId id="270" r:id="rId18"/>
    <p:sldId id="257" r:id="rId19"/>
    <p:sldId id="258" r:id="rId20"/>
    <p:sldId id="285" r:id="rId21"/>
    <p:sldId id="259" r:id="rId22"/>
    <p:sldId id="260" r:id="rId23"/>
    <p:sldId id="261" r:id="rId24"/>
    <p:sldId id="262" r:id="rId25"/>
    <p:sldId id="263" r:id="rId26"/>
    <p:sldId id="264" r:id="rId27"/>
    <p:sldId id="265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81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maximum-subarray/description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Алгоритмы</a:t>
            </a:r>
            <a:r>
              <a:rPr dirty="0"/>
              <a:t> и </a:t>
            </a:r>
            <a:r>
              <a:rPr dirty="0" err="1"/>
              <a:t>структуры</a:t>
            </a:r>
            <a:r>
              <a:rPr dirty="0"/>
              <a:t> </a:t>
            </a:r>
            <a:r>
              <a:rPr dirty="0" err="1"/>
              <a:t>данных</a:t>
            </a:r>
            <a:endParaRPr dirty="0"/>
          </a:p>
          <a:p>
            <a:r>
              <a:rPr dirty="0" err="1"/>
              <a:t>Занятие</a:t>
            </a:r>
            <a:r>
              <a:rPr dirty="0"/>
              <a:t> </a:t>
            </a:r>
            <a:r>
              <a:rPr lang="en-US" dirty="0"/>
              <a:t>7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Kadane’s</a:t>
            </a:r>
            <a:r>
              <a:rPr lang="en-US" dirty="0"/>
              <a:t> algorithm</a:t>
            </a:r>
          </a:p>
          <a:p>
            <a:r>
              <a:rPr lang="ru-RU" dirty="0"/>
              <a:t>Связные списки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Kadane’s</a:t>
            </a:r>
            <a:r>
              <a:rPr lang="en-US" dirty="0"/>
              <a:t> algorithm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Алгоритм Kadane</a:t>
            </a:r>
            <a:r>
              <a:rPr lang="ru-RU" dirty="0"/>
              <a:t> (назван в честь его создателя Джозефа Борна Кадана) — </a:t>
            </a:r>
            <a:r>
              <a:rPr lang="ru-RU" b="1" dirty="0"/>
              <a:t>метод поиска максимальной суммы непрерывного подмассива в заданном массиве чисел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239E9-E502-8E85-2E25-4E42F0C38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E5AF4-C451-E77D-BB67-D90169396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Kadane’s</a:t>
            </a:r>
            <a:r>
              <a:rPr lang="en-US" dirty="0"/>
              <a:t> algorithm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57196-4D7B-4974-92F4-C9BAEB7E4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Алгоритм позволяет решить задачу о поиске максимальной суммы непрерывного подмассива без использования динамического программирования (или, более точно, сильно упрощает реализацию ДП)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67021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A7345-F984-6A54-9E12-20852F444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BFA52-984A-88D4-2CF2-9BB8ADDD1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Kadane’s</a:t>
            </a:r>
            <a:r>
              <a:rPr lang="en-US" dirty="0"/>
              <a:t> algorithm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C45F6-E770-27DB-6E63-2B1C55E29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Алгоритм позволяет решить задачу о поиске максимальной суммы непрерывного подмассива без использования динамического программирования (или, более точно, сильно упрощает реализацию ДП)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2089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8AFAD-2257-6FF0-1470-BD70F4649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120C5-8E2B-D264-A4C0-55F3EB161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Kadane’s</a:t>
            </a:r>
            <a:r>
              <a:rPr lang="en-US" dirty="0"/>
              <a:t> algorithm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34F0B-150B-420D-00BA-DBB6C054B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Алгоритм позволяет решить задачу о поиске максимальной суммы непрерывного подмассива без использования динамического программирования (или, более точно, сильно упрощает реализацию ДП)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7125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71E47-41EB-3089-5E4A-075B61487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016D9-029B-AD8B-1231-68269FA1F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Kadane’s</a:t>
            </a:r>
            <a:r>
              <a:rPr lang="en-US" dirty="0"/>
              <a:t> algorithm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01216-6F37-2DD5-E224-A9B95CBEE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Идея алгоритма состоит в том, чтобы пройти по массиву слева направо и для каждого элемента найти максимальную сумму среди всех подмассивов, заканчивающихся на этом элементе. Результатом будет максимальное из всех этих значений.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23240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C7F8A-B498-1AF2-1435-FC6C8C460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90E5C-950A-D02B-75D3-FC4627995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Kadane’s</a:t>
            </a:r>
            <a:r>
              <a:rPr lang="en-US" dirty="0"/>
              <a:t> algorithm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2097E-A820-D590-3405-355BFC052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Идея алгоритма состоит в том, чтобы пройти по массиву слева направо и для каждого элемента найти максимальную сумму среди всех подмассивов, заканчивающихся на этом элементе. Результатом будет максимальное из всех этих значений.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67276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D4E06-2459-23EB-5519-C1626AAF6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DA234-24E5-63CA-5546-165509D5F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Kadane’s</a:t>
            </a:r>
            <a:r>
              <a:rPr lang="en-US" dirty="0"/>
              <a:t> algorithm</a:t>
            </a:r>
            <a:endParaRPr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C970761-F716-6963-2CFD-90B0EB4F26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803213"/>
            <a:ext cx="8229600" cy="411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929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55A6D-3A78-CDF8-5E47-E29583D2D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7968A-F832-8CD3-3958-B2B88BD69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Kadane’s</a:t>
            </a:r>
            <a:r>
              <a:rPr lang="en-US" dirty="0"/>
              <a:t> algorithm</a:t>
            </a:r>
            <a:endParaRPr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7CF645D-C07B-1FA8-C6DB-65AFF092D0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803213"/>
            <a:ext cx="8229600" cy="411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527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FC488-1058-3CA0-6C73-4568FEFD5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95038-3C76-A87B-F486-526A46242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Kadane’s</a:t>
            </a:r>
            <a:r>
              <a:rPr lang="en-US" dirty="0"/>
              <a:t> algorithm</a:t>
            </a:r>
            <a:endParaRPr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E10FF877-3C26-9643-2ED9-BCD5BBB90B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803213"/>
            <a:ext cx="8229600" cy="411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585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3DDDB-B7A2-9557-18DE-6DFD82083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C6D9B-DFED-5AE8-6EB1-EDD2BBE59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Kadane’s</a:t>
            </a:r>
            <a:r>
              <a:rPr lang="en-US" dirty="0"/>
              <a:t> algorithm</a:t>
            </a:r>
            <a:endParaRPr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7F526FC9-8ED2-846B-35EE-F9C878F209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803213"/>
            <a:ext cx="8229600" cy="411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114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322FC-2E53-D4C1-324D-4098F2AC1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292F8-FD17-E91C-1B01-D10382E9A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Kadane’s</a:t>
            </a:r>
            <a:r>
              <a:rPr lang="en-US" dirty="0"/>
              <a:t> algorithm</a:t>
            </a:r>
            <a:endParaRPr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9E5F102B-29D0-A2F1-C60A-8A730BBBC2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803213"/>
            <a:ext cx="8229600" cy="411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395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AA366-79CA-F909-F143-250A7162D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3413-CEB6-422E-0839-0DE16B2B4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Kadane’s</a:t>
            </a:r>
            <a:r>
              <a:rPr lang="en-US" dirty="0"/>
              <a:t> algorithm</a:t>
            </a:r>
            <a:endParaRPr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2C9E70C7-2C1F-70A5-2CBC-FF949DBEA8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803213"/>
            <a:ext cx="8229600" cy="411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808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80885-785E-3E76-7671-3E49ABC7C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7F245-16DA-9504-38D6-69869CABC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Kadane’s</a:t>
            </a:r>
            <a:r>
              <a:rPr lang="en-US" dirty="0"/>
              <a:t> algorithm</a:t>
            </a:r>
            <a:endParaRPr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2060425-6516-5753-C761-8C0AB6D8E5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803213"/>
            <a:ext cx="8229600" cy="411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694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38DAD-62BD-E4F7-FFBB-FB8265754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CA02D-3E5E-0CB5-5A72-E53777F87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Kadane’s</a:t>
            </a:r>
            <a:r>
              <a:rPr lang="en-US" dirty="0"/>
              <a:t> algorithm</a:t>
            </a: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3A7354-F91C-0174-347D-3A9BDCD2F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На каждой итерации делаем выбор</a:t>
            </a:r>
            <a:r>
              <a:rPr lang="en-US" dirty="0"/>
              <a:t>:</a:t>
            </a:r>
            <a:endParaRPr lang="ru-RU" dirty="0"/>
          </a:p>
          <a:p>
            <a:pPr marL="0" indent="0">
              <a:buNone/>
            </a:pPr>
            <a:endParaRPr lang="en-US" dirty="0"/>
          </a:p>
          <a:p>
            <a:r>
              <a:rPr lang="ru-RU" dirty="0"/>
              <a:t>Вариант 1: Расширить подмассив с максимальной суммой, заканчивающийся на предыдущем элементе, добавив к нему текущий элемент. Если максимальная сумма подмассива, заканчивающаяся на предыдущем индексе, положительна, то всегда лучше расширить подмассив.</a:t>
            </a:r>
            <a:endParaRPr lang="en-US" dirty="0"/>
          </a:p>
          <a:p>
            <a:r>
              <a:rPr lang="ru-RU" dirty="0"/>
              <a:t>Вариант 2: Начать новый подмассив, начиная с текущего элемента. Если максимальная сумма подмассива, заканчивающаяся на предыдущем индексе, отрицательна, всегда лучше начинать новый подмассив с текущего элемента.</a:t>
            </a:r>
          </a:p>
        </p:txBody>
      </p:sp>
    </p:spTree>
    <p:extLst>
      <p:ext uri="{BB962C8B-B14F-4D97-AF65-F5344CB8AC3E}">
        <p14:creationId xmlns:p14="http://schemas.microsoft.com/office/powerpoint/2010/main" val="11763117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807E8-1EF6-DBAD-82A9-9575C5306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02C4C-7FB7-77E6-63D2-86AD37D7C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Kadane’s</a:t>
            </a:r>
            <a:r>
              <a:rPr lang="en-US" dirty="0"/>
              <a:t> algorithm</a:t>
            </a: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EA3753-1952-33CD-D633-63D2F7E0A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hlinkClick r:id="rId2"/>
              </a:rPr>
              <a:t>53 Maximum Subarray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635899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011B8-A0B1-F132-4C84-67A7B709C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413E8-B1E6-2F50-5B0E-9728DDB35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Связные списки (Linked Lists)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3FED9-44BC-4E17-871E-E2BFE32EF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Структура данных для последовательного хранения элементов</a:t>
            </a:r>
          </a:p>
          <a:p>
            <a:r>
              <a:t>Каждый элемент хранит значение и ссылку на следующий</a:t>
            </a:r>
          </a:p>
          <a:p>
            <a:r>
              <a:t>Классическая тема алгоритмических собеседований</a:t>
            </a:r>
          </a:p>
        </p:txBody>
      </p:sp>
    </p:spTree>
    <p:extLst>
      <p:ext uri="{BB962C8B-B14F-4D97-AF65-F5344CB8AC3E}">
        <p14:creationId xmlns:p14="http://schemas.microsoft.com/office/powerpoint/2010/main" val="38891425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Зачем нужны связные списки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Отсутствие требования непрерывной памяти</a:t>
            </a:r>
          </a:p>
          <a:p>
            <a:r>
              <a:t>Быстрые вставки и удаления</a:t>
            </a:r>
          </a:p>
          <a:p>
            <a:r>
              <a:t>Контраст с массивами по операциям и памяти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Устройство связного списка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Узел</a:t>
            </a:r>
            <a:r>
              <a:rPr dirty="0"/>
              <a:t> (Node): </a:t>
            </a:r>
            <a:r>
              <a:rPr dirty="0" err="1"/>
              <a:t>значение</a:t>
            </a:r>
            <a:r>
              <a:rPr dirty="0"/>
              <a:t> + </a:t>
            </a:r>
            <a:r>
              <a:rPr dirty="0" err="1"/>
              <a:t>ссылка</a:t>
            </a:r>
            <a:r>
              <a:rPr dirty="0"/>
              <a:t> (next)</a:t>
            </a:r>
          </a:p>
          <a:p>
            <a:r>
              <a:rPr dirty="0"/>
              <a:t>head — </a:t>
            </a:r>
            <a:r>
              <a:rPr dirty="0" err="1"/>
              <a:t>первый</a:t>
            </a:r>
            <a:r>
              <a:rPr dirty="0"/>
              <a:t> </a:t>
            </a:r>
            <a:r>
              <a:rPr dirty="0" err="1"/>
              <a:t>элемент</a:t>
            </a:r>
            <a:r>
              <a:rPr dirty="0"/>
              <a:t> </a:t>
            </a:r>
            <a:r>
              <a:rPr dirty="0" err="1"/>
              <a:t>списка</a:t>
            </a:r>
            <a:endParaRPr dirty="0"/>
          </a:p>
          <a:p>
            <a:r>
              <a:rPr dirty="0"/>
              <a:t>tail — </a:t>
            </a:r>
            <a:r>
              <a:rPr dirty="0" err="1"/>
              <a:t>последний</a:t>
            </a:r>
            <a:r>
              <a:rPr dirty="0"/>
              <a:t> </a:t>
            </a:r>
            <a:r>
              <a:rPr dirty="0" err="1"/>
              <a:t>элемент</a:t>
            </a:r>
            <a:r>
              <a:rPr dirty="0"/>
              <a:t> (</a:t>
            </a:r>
            <a:r>
              <a:rPr dirty="0" err="1"/>
              <a:t>опционально</a:t>
            </a:r>
            <a:r>
              <a:rPr dirty="0"/>
              <a:t>)</a:t>
            </a:r>
          </a:p>
          <a:p>
            <a:r>
              <a:rPr dirty="0"/>
              <a:t>Элементы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лежат</a:t>
            </a:r>
            <a:r>
              <a:rPr dirty="0"/>
              <a:t> </a:t>
            </a:r>
            <a:r>
              <a:rPr dirty="0" err="1"/>
              <a:t>подряд</a:t>
            </a:r>
            <a:r>
              <a:rPr dirty="0"/>
              <a:t> в </a:t>
            </a:r>
            <a:r>
              <a:rPr dirty="0" err="1"/>
              <a:t>памяти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DF66E-FD46-B8B5-3DFF-F88145205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7675B-267E-05BC-814B-742985FAA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Устройство связного списка</a:t>
            </a:r>
          </a:p>
        </p:txBody>
      </p:sp>
      <p:pic>
        <p:nvPicPr>
          <p:cNvPr id="4" name="Content Placeholder 3" descr="Picture background">
            <a:extLst>
              <a:ext uri="{FF2B5EF4-FFF2-40B4-BE49-F238E27FC236}">
                <a16:creationId xmlns:a16="http://schemas.microsoft.com/office/drawing/2014/main" id="{C707621E-B571-7E9F-FB92-C69C48DCE3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8126" y="2496153"/>
            <a:ext cx="7687748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3610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Односвязный и двусвязный список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Односвязный: ссылка только на следующий элемент</a:t>
            </a:r>
          </a:p>
          <a:p>
            <a:r>
              <a:t>Двусвязный: ссылки на следующий и предыдущий</a:t>
            </a:r>
          </a:p>
          <a:p>
            <a:r>
              <a:t>Цена двусвязного списка — дополнительная память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Сложности операций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Доступ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индексу</a:t>
            </a:r>
            <a:r>
              <a:rPr dirty="0"/>
              <a:t>: O(n)</a:t>
            </a:r>
          </a:p>
          <a:p>
            <a:r>
              <a:rPr dirty="0" err="1"/>
              <a:t>Поиск</a:t>
            </a:r>
            <a:r>
              <a:rPr dirty="0"/>
              <a:t> </a:t>
            </a:r>
            <a:r>
              <a:rPr dirty="0" err="1"/>
              <a:t>элемента</a:t>
            </a:r>
            <a:r>
              <a:rPr dirty="0"/>
              <a:t>: O(n)</a:t>
            </a:r>
          </a:p>
          <a:p>
            <a:r>
              <a:rPr dirty="0" err="1"/>
              <a:t>Вставка</a:t>
            </a:r>
            <a:r>
              <a:rPr dirty="0"/>
              <a:t> / </a:t>
            </a:r>
            <a:r>
              <a:rPr dirty="0" err="1"/>
              <a:t>удаление</a:t>
            </a:r>
            <a:r>
              <a:rPr dirty="0"/>
              <a:t>: O(1)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наличии</a:t>
            </a:r>
            <a:r>
              <a:rPr dirty="0"/>
              <a:t> </a:t>
            </a:r>
            <a:r>
              <a:rPr dirty="0" err="1"/>
              <a:t>указателя</a:t>
            </a:r>
            <a:endParaRPr dirty="0"/>
          </a:p>
          <a:p>
            <a:r>
              <a:rPr dirty="0" err="1"/>
              <a:t>Нет</a:t>
            </a:r>
            <a:r>
              <a:rPr dirty="0"/>
              <a:t> random access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Сравнение с массивом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Массив: быстрый доступ, дорогие вставки</a:t>
            </a:r>
          </a:p>
          <a:p>
            <a:r>
              <a:t>Связный список: медленный доступ, дешёвые вставки</a:t>
            </a:r>
          </a:p>
          <a:p>
            <a:r>
              <a:t>Выбор структуры зависит от задачи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Типичные ошибки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Потеря ссылки на следующий элемент</a:t>
            </a:r>
          </a:p>
          <a:p>
            <a:r>
              <a:t>Неверный порядок обновления указателей</a:t>
            </a:r>
          </a:p>
          <a:p>
            <a:r>
              <a:t>Необработка None / пустого списка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Типовые приёмы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Линейный</a:t>
            </a:r>
            <a:r>
              <a:rPr dirty="0"/>
              <a:t> </a:t>
            </a:r>
            <a:r>
              <a:rPr dirty="0" err="1"/>
              <a:t>проход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списку</a:t>
            </a:r>
            <a:r>
              <a:rPr lang="en-US" dirty="0"/>
              <a:t>: </a:t>
            </a:r>
            <a:r>
              <a:rPr lang="en-US" b="1" dirty="0"/>
              <a:t>while current</a:t>
            </a:r>
            <a:endParaRPr b="1" dirty="0"/>
          </a:p>
          <a:p>
            <a:r>
              <a:rPr dirty="0"/>
              <a:t>Dummy node (</a:t>
            </a:r>
            <a:r>
              <a:rPr dirty="0" err="1"/>
              <a:t>фиктивная</a:t>
            </a:r>
            <a:r>
              <a:rPr dirty="0"/>
              <a:t> </a:t>
            </a:r>
            <a:r>
              <a:rPr dirty="0" err="1"/>
              <a:t>вершина</a:t>
            </a:r>
            <a:r>
              <a:rPr dirty="0"/>
              <a:t>)</a:t>
            </a:r>
          </a:p>
          <a:p>
            <a:r>
              <a:rPr dirty="0" err="1"/>
              <a:t>Два</a:t>
            </a:r>
            <a:r>
              <a:rPr dirty="0"/>
              <a:t> </a:t>
            </a:r>
            <a:r>
              <a:rPr dirty="0" err="1"/>
              <a:t>указателя</a:t>
            </a:r>
            <a:r>
              <a:rPr dirty="0"/>
              <a:t> (fast / slow)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ru-RU" dirty="0"/>
              <a:t> </a:t>
            </a:r>
            <a:r>
              <a:rPr lang="ru-RU" b="1" dirty="0"/>
              <a:t>90% задач на списки — это аккуратная работа с указателями</a:t>
            </a:r>
            <a:endParaRPr b="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Задачи с собеседований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Reverse Linked List (LC 206)</a:t>
            </a:r>
          </a:p>
          <a:p>
            <a:r>
              <a:rPr dirty="0"/>
              <a:t>Merge Two Sorted Lists (LC 21)</a:t>
            </a:r>
          </a:p>
          <a:p>
            <a:r>
              <a:rPr dirty="0"/>
              <a:t>Linked List Cycle (LC 141)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Связные списки — про аккуратность и указатели</a:t>
            </a:r>
          </a:p>
          <a:p>
            <a:r>
              <a:t>Важно понимать реальные сложности операций</a:t>
            </a:r>
          </a:p>
          <a:p>
            <a:r>
              <a:t>Большинство задач решаются шаблонными приёмами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538</Words>
  <Application>Microsoft Office PowerPoint</Application>
  <PresentationFormat>On-screen Show (4:3)</PresentationFormat>
  <Paragraphs>75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Алгоритмы и структуры данных Занятие 7</vt:lpstr>
      <vt:lpstr>Kadane’s algorithm</vt:lpstr>
      <vt:lpstr>Kadane’s algorithm</vt:lpstr>
      <vt:lpstr>Kadane’s algorithm</vt:lpstr>
      <vt:lpstr>Kadane’s algorithm</vt:lpstr>
      <vt:lpstr>Kadane’s algorithm</vt:lpstr>
      <vt:lpstr>Kadane’s algorithm</vt:lpstr>
      <vt:lpstr>Kadane’s algorithm</vt:lpstr>
      <vt:lpstr>Kadane’s algorithm</vt:lpstr>
      <vt:lpstr>Kadane’s algorithm</vt:lpstr>
      <vt:lpstr>Kadane’s algorithm</vt:lpstr>
      <vt:lpstr>Kadane’s algorithm</vt:lpstr>
      <vt:lpstr>Kadane’s algorithm</vt:lpstr>
      <vt:lpstr>Kadane’s algorithm</vt:lpstr>
      <vt:lpstr>Kadane’s algorithm</vt:lpstr>
      <vt:lpstr>Kadane’s algorithm</vt:lpstr>
      <vt:lpstr>Связные списки (Linked Lists)</vt:lpstr>
      <vt:lpstr>Зачем нужны связные списки</vt:lpstr>
      <vt:lpstr>Устройство связного списка</vt:lpstr>
      <vt:lpstr>Устройство связного списка</vt:lpstr>
      <vt:lpstr>Односвязный и двусвязный список</vt:lpstr>
      <vt:lpstr>Сложности операций</vt:lpstr>
      <vt:lpstr>Сравнение с массивом</vt:lpstr>
      <vt:lpstr>Типичные ошибки</vt:lpstr>
      <vt:lpstr>Типовые приёмы</vt:lpstr>
      <vt:lpstr>Задачи с собеседований</vt:lpstr>
      <vt:lpstr>Итоги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Денис Серажетдинов</cp:lastModifiedBy>
  <cp:revision>4</cp:revision>
  <dcterms:created xsi:type="dcterms:W3CDTF">2013-01-27T09:14:16Z</dcterms:created>
  <dcterms:modified xsi:type="dcterms:W3CDTF">2026-01-24T09:46:56Z</dcterms:modified>
  <cp:category/>
</cp:coreProperties>
</file>