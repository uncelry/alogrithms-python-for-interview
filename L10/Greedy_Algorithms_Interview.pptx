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0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4081 24575,'0'-11'0,"0"0"0,1 1 0,0-1 0,0 0 0,1 1 0,1 0 0,-1-1 0,2 1 0,-1 0 0,2 0 0,-1 1 0,1-1 0,1 1 0,-1 0 0,2 0 0,11-12 0,6-11 0,-21 27 0,1-1 0,0 1 0,0 0 0,0 0 0,0 1 0,1-1 0,7-5 0,19-12 0,44-42 0,-8 5 0,-31 31 0,59-35 0,-79 54 0,0 1 0,1 0 0,0 1 0,1 1 0,-1 1 0,30-5 0,-14 5 0,-24 2 0,1 1 0,0 1 0,0-1 0,0 1 0,0 1 0,0 0 0,1 1 0,-1 0 0,0 0 0,-1 1 0,1 0 0,0 1 0,18 7 0,-5 1 0,0 1 0,-1 0 0,0 2 0,-1 1 0,0 0 0,-2 2 0,0 0 0,23 27 0,92 141 0,-121-166 0,5 9 0,0-1 0,2-1 0,35 35 0,-32-42 0,0-2 0,2 0 0,0-2 0,1 0 0,42 16 0,-50-24 0,1-1 0,-1 0 0,1-2 0,0 0 0,0-1 0,21 1 0,120-5 0,-69-1 0,-78 2 0,0 0 0,-1-1 0,1 0 0,0 0 0,-1-2 0,1 0 0,-1 0 0,0-1 0,0 0 0,19-10 0,54-21 0,-67 29 0,-1 0 0,0-1 0,0-1 0,23-15 0,70-51 0,-74 47 0,35-31 0,50-52 0,-104 93 0,0 2 0,40-28 0,-37 29 0,1-1 0,22-24 0,34-25 0,-43 38 0,140-101 0,-126 95 0,142-89 0,53-7 0,-167 92 0,-58 29 0,1 0 0,0 2 0,0 0 0,0 1 0,28-2 0,-20 2 0,51-12 0,-61 12 0,1 0 0,-1 2 0,1 0 0,0 1 0,0 0 0,0 2 0,-1 0 0,1 1 0,0 1 0,-1 0 0,0 1 0,0 1 0,0 1 0,0 1 0,-1 0 0,0 1 0,0 0 0,-1 2 0,0 0 0,-1 0 0,0 1 0,15 17 0,79 94 0,-26-11 0,-6-8 0,-26-37 0,-34-43 0,2 0 0,22 23 0,132 117 0,-150-144 0,1-1 0,0-1 0,1-1 0,1-1 0,1-1 0,44 16 0,-46-24 0,0-2 0,0 0 0,1-2 0,-1 0 0,1-2 0,35-4 0,15 1 0,-56 3 0,10 1 0,47-7 0,-65 4 0,0 0 0,0-1 0,0 0 0,-1-1 0,1 0 0,-1-1 0,15-9 0,46-27 0,-31 18 0,67-51 0,-68 43 0,88-80 0,-94 78 0,122-133 0,-87 84 0,105-114 0,-148 168 0,-1 0 0,-2-2 0,-1 0 0,-1-1 0,24-53 0,-25 51 0,39-55 0,-54 82 0,122-188 0,0 4 0,-44 69 0,-37 53 0,83-140 0,10-24 0,-97 168 0,94-156 0,15-26 0,-51 89 0,-53 86 0,69-76 0,-21 27 0,23-36 0,-42 73 0,97-82 0,-122 123 0,2 1 0,1 3 0,2 3 0,1 2 0,115-49 0,53 7 0,-183 66 0,1 1 0,0 2 0,0 2 0,0 2 0,1 2 0,50 5 0,-80-2 0,1-1 0,0 2 0,15 5 0,31 8 0,-49-15 0,12 0 0,-1 2 0,0 0 0,0 2 0,0 0 0,-1 2 0,38 17 0,-42-16 0,1 0 0,25 7 0,24 12 0,17 14 0,62 35 0,-128-65 0,0 0 0,-1 2 0,0 0 0,-1 0 0,23 28 0,12 17 0,23 28 0,-31-6 0,-27-52 0,-2-1 0,-2 2 0,0 0 0,11 50 0,-14-48 0,-5-16 0,-1 1 0,2 28 0,1 11 0,-2-26 0,0 54 0,-3-55 0,7 58 0,3-9 0,-7-45 0,12 50 0,-6-41 0,7 76 0,-13-73 0,-1-6 0,1-1 0,2 0 0,20 67 0,-18-77 0,-1 1 0,3 31 0,6 22 0,33 104 0,6-2 0,-45-151 0,7 52 0,-7-33 0,25 96 0,-2 1 0,4 19 0,-9-53 0,-22-81 0,2-1 0,2 0 0,0-1 0,23 47 0,-9-26 0,9 16 0,-11-32 0,9 11 0,37 47 0,-54-80 0,1-1 0,0-1 0,1 0 0,26 15 0,-9-5 0,-19-16 0,0-1 0,0 0 0,1 0 0,0-2 0,0 0 0,0 0 0,1-2 0,-1 1 0,23-1 0,9 3 0,9 0 0,0-3 0,96-7 0,-136 4 0,-1-2 0,1 0 0,-1-1 0,0-1 0,0 0 0,26-13 0,78-55 0,-80 47 0,47-24 0,-31 24 0,151-81 0,-40 1 0,-35 22 0,-31 31 0,-22 14 0,-57 28 0,0 1 0,1 1 0,0 0 0,0 2 0,1 1 0,0 1 0,28-3 0,-7 4 0,1 2 0,82 7 0,-116-3 0,0 0 0,0 1 0,0 0 0,-1 0 0,1 1 0,-1 0 0,0 1 0,12 8 0,11 9 0,30 26 0,-15-11 0,-35-25 0,0 0 0,0 1 0,-2 0 0,1 1 0,11 18 0,25 31 0,-21-31 0,23 38 0,-18-24 0,-15-25 0,1 0 0,1-1 0,1-1 0,0-1 0,2-1 0,33 21 0,-32-24 0,1-1 0,33 12 0,14 7 0,-50-23 0,-1-1 0,1-1 0,0-1 0,0-1 0,0-1 0,1-1 0,0 0 0,38-2 0,19 3 0,-21 5 0,25 0 0,58-9-1365,-126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17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24575,'2'2'0,"1"0"0,-1 1 0,0-1 0,0 0 0,0 1 0,0-1 0,-1 1 0,1-1 0,-1 1 0,0 0 0,1 0 0,-1 0 0,1 4 0,6 11 0,61 105 0,27 41 0,-73-131 0,96 148 0,-102-152 0,48 78 0,-47-82 0,0 1 0,-2 0 0,-1 1 0,18 46 0,-23-42 0,-11-26 0,-7-19 0,5 7 0,-7-14 0,-1 1 0,-15-23 0,20 36 0,0 0 0,0 0 0,-1 0 0,0 1 0,0 0 0,0 1 0,0-1 0,-15-6 0,-62-27 0,-114-37 0,197 76 0,-7-3 0,1 1 0,-1 0 0,1 0 0,-1 1 0,-14-1 0,21 2 0,1 0 0,-1 0 0,0 0 0,0 0 0,0 0 0,1 1 0,-1-1 0,0 0 0,0 0 0,1 1 0,-1-1 0,0 0 0,0 1 0,1-1 0,-1 0 0,0 1 0,1-1 0,-1 1 0,1-1 0,-1 1 0,0 0 0,1-1 0,-1 1 0,0 1 0,1 0 0,0-1 0,0 1 0,0 0 0,0-1 0,0 1 0,1 0 0,-1-1 0,0 1 0,1-1 0,-1 1 0,1 0 0,0-1 0,-1 1 0,1-1 0,0 1 0,0-1 0,2 2 0,8 14 0,0-1 0,2-1 0,0 0 0,0 0 0,1-2 0,1 1 0,0-2 0,1 0 0,27 15 0,-8-9 0,51 19 0,-60-28 0,-1 2 0,0 0 0,0 2 0,41 29 0,-65-41 0,-1-1 0,1 1 0,-1-1 0,1 1 0,-1-1 0,1 1 0,0-1 0,-1 1 0,1-1 0,0 0 0,-1 1 0,1-1 0,0 0 0,-1 0 0,1 0 0,0 1 0,-1-1 0,1 0 0,0 0 0,0 0 0,-1 0 0,1 0 0,0 0 0,-1 0 0,1-1 0,0 1 0,0 0 0,-1 0 0,1 0 0,0-1 0,0 1 0,0-2 0,0 1 0,0 0 0,0-1 0,0 1 0,0-1 0,-1 1 0,1-1 0,0 1 0,-1-1 0,0 1 0,1-1 0,-1 0 0,1-2 0,-1-66 0,-1 57 0,0-431 0,5 413-1365,0 20-5461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07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24575,'-30'71'0,"-16"94"0,33-112 0,-3 31 0,4 1 0,-2 98 0,9-116 0,-3 522 0,10-351 0,7-4 0,0 11 0,-9 335 0,0-577 0,0-1 0,0 0 0,0 1 0,1-1 0,0 1 0,-1-1 0,1 0 0,0 0 0,0 1 0,0-1 0,0 0 0,0 0 0,1 0 0,-1 0 0,1 0 0,-1 0 0,1-1 0,0 1 0,-1 0 0,1-1 0,0 1 0,0-1 0,0 0 0,0 0 0,1 1 0,-1-1 0,0-1 0,0 1 0,1 0 0,-1-1 0,0 1 0,1-1 0,3 1 0,12 1 0,-1-1 0,1-1 0,32-4 0,-12 2 0,33 0 0,350 4 0,-122 25 0,-13-1 0,32 15 0,-167-18 0,-55-8 0,133 13 0,-61-12 0,51 2 0,-172-15 0,1 1 0,64 16 0,-64-11 0,0-1 0,54 1 0,-100-9 0,0 1 0,-1-1 0,1 0 0,0 0 0,-1 0 0,1 0 0,0 0 0,0 0 0,-1 0 0,1-1 0,0 1 0,-1-1 0,1 1 0,0-1 0,-1 1 0,1-1 0,-1 0 0,1 0 0,-1 0 0,1 0 0,-1 0 0,0 0 0,1 0 0,-1-1 0,2-2 0,-3 2 0,0-1 0,0 1 0,0-1 0,0 1 0,0-1 0,-1 1 0,1-1 0,-1 1 0,0 0 0,0-1 0,0 1 0,0 0 0,0-1 0,0 1 0,-1 0 0,1 0 0,-2-2 0,-6-9 0,3 2 0,-1 0 0,0 1 0,-1-1 0,0 2 0,-1-1 0,0 1 0,0 1 0,-18-14 0,-36-17 0,21 14 0,-65-51 0,80 48 0,21 21 0,0 0 0,0 1 0,-1 0 0,0 0 0,0 1 0,-9-6 0,16 16 0,0 0 0,1 0 0,0 1 0,0-1 0,0 0 0,1 0 0,3 8 0,2 2 0,0 0 0,1 0 0,1 0 0,0-1 0,1-1 0,1 1 0,0-2 0,1 0 0,0 0 0,1-1 0,0 0 0,1-1 0,0-1 0,0 0 0,1-1 0,20 8 0,13 7 0,-16-6 0,1-2 0,1-1 0,0-1 0,0-2 0,49 9 0,-79-20 0,0 1 0,0-1 0,-1 1 0,1 0 0,0 0 0,0 0 0,-1 1 0,1-1 0,-1 1 0,1 0 0,3 2 0,-6-3 0,-1-1 0,1 1 0,-1 0 0,1-1 0,-1 1 0,1-1 0,-1 1 0,0 0 0,0-1 0,1 1 0,-1 0 0,0 0 0,0-1 0,0 1 0,0 0 0,1-1 0,-1 1 0,0 0 0,0 0 0,-1-1 0,1 1 0,0 1 0,-15 22 0,-2-9 0,0-1 0,-1 0 0,0-2 0,-1 0 0,0-1 0,-23 9 0,-41 24 0,-29 13 0,38-21 0,62-30 0,0 0 0,0 0 0,-1-1 0,1-1 0,-1 0 0,0-1 0,0 0 0,-1-1 0,1-1 0,0 0 0,-1-1 0,1 0 0,-1-1 0,1 0 0,0-1 0,-1-1 0,1 0 0,0-1 0,1 0 0,-1-1 0,-17-9 0,17 7-1365,1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08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1 613 24575,'0'-8'0,"1"1"0,0 0 0,1 0 0,-1 0 0,2 0 0,-1 0 0,0 0 0,1 0 0,1 1 0,-1-1 0,1 1 0,6-8 0,8-9 0,40-37 0,-23 24 0,138-161 0,-50 63 0,-71 80 0,-51 53 0,0 0 0,0 0 0,0 0 0,0 0 0,0 0 0,0 0 0,0 1 0,0-1 0,1 1 0,-1-1 0,0 1 0,0-1 0,1 1 0,-1-1 0,0 1 0,0 0 0,1 0 0,-1 0 0,0 0 0,1 0 0,-1 0 0,0 0 0,1 0 0,-1 0 0,0 0 0,0 1 0,1-1 0,-1 1 0,0-1 0,0 1 0,0-1 0,0 1 0,1 0 0,-1-1 0,0 1 0,0 0 0,0 0 0,0 0 0,-1 0 0,1 0 0,0 0 0,0 0 0,0 0 0,-1 0 0,1 0 0,0 2 0,7 10 0,-1-1 0,-1 1 0,8 20 0,-6-13 0,133 229 0,-46-121-1365,-85-113-5461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09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24575,'2'5'0,"0"-1"0,0 0 0,1 0 0,-1 0 0,1 0 0,6 7 0,1 2 0,5 10 0,1 4 0,37 44 0,-23-40 0,61 48 0,15 15 0,-36-23-1365,-59-59-5461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0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0 24575,'0'3'0,"-1"0"0,0 0 0,0 1 0,0-2 0,0 1 0,0 0 0,0 0 0,-1 0 0,0 0 0,1-1 0,-1 1 0,0-1 0,0 0 0,-3 4 0,-38 31 0,32-28 0,-10 5 0,0-1 0,-1-1 0,-1-1 0,0-1 0,-1-1 0,1-1 0,-41 7 0,-44 18 0,25-2 0,-1-4 0,-170 31 0,194-54-1365,41-4-5461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1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346 109 24575,'-1'1'0,"0"-1"0,0 1 0,-1-1 0,1 1 0,0 0 0,0-1 0,0 1 0,0 0 0,0 0 0,0 0 0,0 0 0,0 0 0,1 0 0,-1 0 0,0 0 0,0 0 0,1 0 0,-1 0 0,1 0 0,-2 3 0,-11 32 0,9-25 0,-2 6 0,0 0 0,1 0 0,0 1 0,1 0 0,2 0 0,-1 0 0,2 0 0,1 0 0,0 1 0,1-1 0,1 0 0,0 0 0,2 0 0,9 29 0,-9-35 0,1-1 0,0 1 0,1-1 0,15 20 0,-18-27 0,0-1 0,0 0 0,0 0 0,0-1 0,1 1 0,0-1 0,-1 1 0,1-1 0,0 0 0,0-1 0,0 1 0,0-1 0,0 0 0,0 0 0,1 0 0,-1 0 0,0-1 0,6 1 0,15-1 0,0-1 0,0-1 0,1-1 0,-2-2 0,1 0 0,0-1 0,-1-2 0,0 0 0,-1-2 0,27-14 0,-23 9 0,-1-2 0,0-1 0,-1-1 0,-1-1 0,-1-1 0,0-1 0,34-45 0,-42 45 0,-1-1 0,-1 0 0,-1-1 0,-1 0 0,-2-1 0,0 0 0,-2-1 0,0 0 0,5-52 0,-6 59 0,0 34 0,-1 35 0,-7-39 0,-1 0 0,0 0 0,0 0 0,-1 0 0,-1-1 0,1 1 0,-2-1 0,1 0 0,-2-1 0,1 0 0,-13 14 0,-25 42 0,17-21 0,-59 76 0,36-54 0,-22 24 0,-85 82 0,136-150 0,-107 96 0,53-51 0,-78 60 0,121-103 0,25-17 0,-5 3 0,0 0 0,-1-1 0,0 0 0,0-1 0,0-1 0,-1 0 0,-22 8 0,35-15 0,1 0 0,-1 1 0,0-1 0,0 0 0,0 0 0,0 0 0,0 0 0,1 0 0,-1 0 0,0 0 0,0 0 0,0 0 0,0 0 0,1 0 0,-1-1 0,0 1 0,0 0 0,0 0 0,0-1 0,1 1 0,-1-1 0,0 1 0,1-1 0,-1 1 0,0-1 0,1 1 0,-1-1 0,0 0 0,0-1 0,1 1 0,0-1 0,0 1 0,0 0 0,0-1 0,0 1 0,0-1 0,0 1 0,0 0 0,1-1 0,-1 1 0,0 0 0,1-1 0,-1 1 0,2-2 0,34-54 0,-30 49 0,20-29 0,2 1 0,1 1 0,2 2 0,1 1 0,2 2 0,1 1 0,1 1 0,61-34 0,-11 16 0,2 4 0,178-58 0,-45 15 0,-6 3 0,-183 73 24,0 1-1,0 1 0,60-3 0,99 7-842,-153 3 180,-21 0-6187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2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24575,'0'5'0,"1"-1"0,0 1 0,0 0 0,0 0 0,0 0 0,1-1 0,0 1 0,0 0 0,0-1 0,1 0 0,-1 0 0,1 1 0,0-1 0,0-1 0,1 1 0,3 4 0,10 7 0,1-1 0,26 17 0,1 2 0,130 115 0,-135-114 0,-5-3 0,1-2 0,2-1 0,1-2 0,55 28 0,-84-48 0,0-1 0,-1 2 0,17 13 0,9 7 0,-15-12 0,0 2 0,0 1 0,-2 0 0,31 39 0,1 2 0,-50-59 0,0 0 0,0 1 0,0-1 0,0 0 0,0 0 0,0 0 0,0 0 0,0 1 0,0-1 0,0 0 0,0 0 0,0 0 0,0 0 0,1 1 0,-1-1 0,0 0 0,0 0 0,0 0 0,0 0 0,0 0 0,0 1 0,0-1 0,0 0 0,0 0 0,1 0 0,-1 0 0,0 0 0,0 0 0,0 0 0,0 0 0,0 1 0,1-1 0,-1 0 0,0 0 0,0 0 0,0 0 0,0 0 0,1 0 0,-1 0 0,0 0 0,0 0 0,0 0 0,0 0 0,1 0 0,-1 0 0,0 0 0,0 0 0,0 0 0,0 0 0,1 0 0,-1 0 0,0-1 0,0 1 0,0 0 0,0 0 0,0 0 0,0 0 0,1 0 0,-1 0 0,0 0 0,0-1 0,0 1 0,0 0 0,0 0 0,0 0 0,0 0 0,1-1 0,-5-15 0,-12-21 0,-16-16 0,24 41 0,-1-1 0,2-1 0,0 1 0,-8-24 0,-41-104 0,50 127 0,-73-143 0,66 139 0,15 33 0,15 34 0,-3-17 0,33 51 0,-31-58 0,-2 0 0,0 1 0,12 35 0,-12-23 0,35 67 0,-35-79 0,-13-24 0,1 0 0,-1 0 0,0 0 0,0 1 0,0-1 0,0 0 0,0 1 0,-1-1 0,1 0 0,-1 1 0,1-1 0,-1 1 0,0-1 0,0 1 0,0-1 0,0 1 0,-1-1 0,1 1 0,-1-1 0,1 0 0,-1 1 0,0-1 0,-2 5 0,1-5 0,-1 0 0,1 0 0,-1 0 0,1-1 0,-1 1 0,0 0 0,1-1 0,-1 0 0,0 0 0,0 0 0,0 0 0,0 0 0,0-1 0,0 1 0,0-1 0,-1 0 0,1 0 0,-5 0 0,-66-2 0,45 0 0,0 2 0,-1 0 0,1 2 0,-37 7 0,10 2 0,-73 4 0,126-14 0,-4-1 0,0 1 0,-1 0 0,1 0 0,0 1 0,-1 0 0,1 0 0,0 1 0,1 0 0,-1 0 0,-12 9 0,18-12-36,1 1 0,0-1 0,-1 1 1,1-1-1,0 1 0,-1-1 0,1 1 0,0-1 0,0 1 0,0-1 0,-1 1 0,1 0 0,0-1 0,0 1 0,0-1 0,0 1 0,0 0 1,0-1-1,0 1 0,0-1 0,0 1 0,1 0 0,-1-1 0,0 1 0,0-1 0,0 1 0,1-1 0,-1 1 0,0-1 0,1 1 0,-1-1 1,0 1-1,1-1 0,-1 1 0,1-1 0,-1 0 0,1 1 0,5 6-6790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7:57:45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 24575,'0'14'0,"1"16"0,-1-1 0,-2 1 0,-1-1 0,-1 0 0,-11 41 0,9-46 0,1 0 0,-3 36 0,0-6 0,-14 117 0,14-109 0,4-36 0,-1 46 0,5-58 0,0 36 0,-1-48 0,1 1 0,0-1 0,0 1 0,-1-1 0,0 1 0,1-1 0,-1 1 0,0-1 0,0 0 0,-1 1 0,1-1 0,0 0 0,-1 0 0,-2 4 0,3-6 0,0 0 0,0 0 0,1 0 0,-1 0 0,0 0 0,0 0 0,0 0 0,1 0 0,-1 0 0,0-1 0,0 1 0,1 0 0,-1 0 0,0-1 0,0 1 0,1 0 0,-1-1 0,0 1 0,1-1 0,-1 1 0,1-1 0,-1 1 0,1-1 0,-1 0 0,1 1 0,-1-1 0,1 1 0,-1-1 0,1 0 0,0 0 0,-1 1 0,1-1 0,0 0 0,0 0 0,-1 1 0,1-1 0,0-1 0,-12-31 0,-10-46 0,-29-110 0,48 171 0,4 19 0,8 29 0,-2-5 0,-1-9 0,1-1 0,15 25 0,-15-29 0,-1 1 0,0 0 0,0 0 0,-1 1 0,4 16 0,-5-15 0,0 1 0,1-1 0,0 0 0,1 0 0,1-1 0,15 25 0,-21-37 0,0-1 0,-1 1 0,1 0 0,0-1 0,-1 1 0,1 0 0,0-1 0,-1 1 0,1-1 0,0 1 0,0-1 0,0 0 0,0 1 0,-1-1 0,1 0 0,0 1 0,0-1 0,0 0 0,0 0 0,0 0 0,0 0 0,0 0 0,0 0 0,0 0 0,0 0 0,0 0 0,-1-1 0,1 1 0,0 0 0,0 0 0,0-1 0,0 1 0,0-1 0,-1 1 0,1-1 0,0 1 0,0-1 0,0 0 0,31-33 0,-18 18 0,4 1-195,-1 0 0,-1-2 0,-1 0 0,0 0 0,-1-2 0,13-22 0,-22 32-6631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Жадные алгоритмы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Теория</a:t>
            </a:r>
            <a:r>
              <a:rPr dirty="0"/>
              <a:t>, </a:t>
            </a:r>
            <a:r>
              <a:rPr dirty="0" err="1"/>
              <a:t>признаки</a:t>
            </a:r>
            <a:r>
              <a:rPr dirty="0"/>
              <a:t> </a:t>
            </a:r>
            <a:r>
              <a:rPr dirty="0" err="1"/>
              <a:t>применимости</a:t>
            </a:r>
            <a:r>
              <a:rPr dirty="0"/>
              <a:t> и </a:t>
            </a:r>
            <a:r>
              <a:rPr dirty="0" err="1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жадный алгоритм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Алгоритм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шаге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оптимальный</a:t>
            </a:r>
            <a:r>
              <a:rPr dirty="0"/>
              <a:t> </a:t>
            </a:r>
            <a:r>
              <a:rPr dirty="0" err="1"/>
              <a:t>выбор</a:t>
            </a:r>
            <a:endParaRPr dirty="0"/>
          </a:p>
          <a:p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пересматриваются</a:t>
            </a:r>
            <a:endParaRPr dirty="0"/>
          </a:p>
          <a:p>
            <a:r>
              <a:rPr dirty="0" err="1"/>
              <a:t>Надеется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оптимум</a:t>
            </a:r>
            <a:r>
              <a:rPr dirty="0"/>
              <a:t> </a:t>
            </a:r>
            <a:r>
              <a:rPr dirty="0" err="1"/>
              <a:t>приведёт</a:t>
            </a:r>
            <a:r>
              <a:rPr dirty="0"/>
              <a:t> к </a:t>
            </a:r>
            <a:r>
              <a:rPr dirty="0" err="1"/>
              <a:t>глобальному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842317-F624-F35E-5E90-ED9C4E83A8AC}"/>
                  </a:ext>
                </a:extLst>
              </p14:cNvPr>
              <p14:cNvContentPartPr/>
              <p14:nvPr/>
            </p14:nvContentPartPr>
            <p14:xfrm>
              <a:off x="1320130" y="4595050"/>
              <a:ext cx="5251320" cy="1508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842317-F624-F35E-5E90-ED9C4E83A8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4010" y="4588930"/>
                <a:ext cx="5263560" cy="15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D8C1D0-3F08-11EF-CEBD-C4691B84675A}"/>
                  </a:ext>
                </a:extLst>
              </p14:cNvPr>
              <p14:cNvContentPartPr/>
              <p14:nvPr/>
            </p14:nvContentPartPr>
            <p14:xfrm>
              <a:off x="4298770" y="4190770"/>
              <a:ext cx="193320" cy="34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D8C1D0-3F08-11EF-CEBD-C4691B8467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2650" y="4184650"/>
                <a:ext cx="205560" cy="35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2D19A09-8EDF-4D61-757D-2D7811FDA962}"/>
              </a:ext>
            </a:extLst>
          </p:cNvPr>
          <p:cNvGrpSpPr/>
          <p:nvPr/>
        </p:nvGrpSpPr>
        <p:grpSpPr>
          <a:xfrm>
            <a:off x="281530" y="5281930"/>
            <a:ext cx="1769760" cy="1575720"/>
            <a:chOff x="281530" y="5281930"/>
            <a:chExt cx="1769760" cy="157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9A76B0-0B20-FA94-DDF1-9388D541F829}"/>
                    </a:ext>
                  </a:extLst>
                </p14:cNvPr>
                <p14:cNvContentPartPr/>
                <p14:nvPr/>
              </p14:nvContentPartPr>
              <p14:xfrm>
                <a:off x="621370" y="5562370"/>
                <a:ext cx="1112760" cy="1155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9A76B0-0B20-FA94-DDF1-9388D541F8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5250" y="5556250"/>
                  <a:ext cx="1125000" cy="11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8FBD36-C014-ACE0-86A1-51066B596E35}"/>
                    </a:ext>
                  </a:extLst>
                </p14:cNvPr>
                <p14:cNvContentPartPr/>
                <p14:nvPr/>
              </p14:nvContentPartPr>
              <p14:xfrm>
                <a:off x="539290" y="5500810"/>
                <a:ext cx="301320" cy="22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8FBD36-C014-ACE0-86A1-51066B596E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170" y="5494690"/>
                  <a:ext cx="313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90D1D1-5A6C-58AC-8C1A-47BAF2605B4A}"/>
                    </a:ext>
                  </a:extLst>
                </p14:cNvPr>
                <p14:cNvContentPartPr/>
                <p14:nvPr/>
              </p14:nvContentPartPr>
              <p14:xfrm>
                <a:off x="1885690" y="6692770"/>
                <a:ext cx="153360" cy="164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90D1D1-5A6C-58AC-8C1A-47BAF2605B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9570" y="6686650"/>
                  <a:ext cx="165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2B6B50-D0E2-4267-6D74-305B141A8195}"/>
                    </a:ext>
                  </a:extLst>
                </p14:cNvPr>
                <p14:cNvContentPartPr/>
                <p14:nvPr/>
              </p14:nvContentPartPr>
              <p14:xfrm>
                <a:off x="1724770" y="6692770"/>
                <a:ext cx="326520" cy="12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2B6B50-D0E2-4267-6D74-305B141A81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8650" y="6686650"/>
                  <a:ext cx="338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00C1FF-E9E1-3BC0-9B70-1F86F4A6B49C}"/>
                    </a:ext>
                  </a:extLst>
                </p14:cNvPr>
                <p14:cNvContentPartPr/>
                <p14:nvPr/>
              </p14:nvContentPartPr>
              <p14:xfrm>
                <a:off x="281530" y="5281930"/>
                <a:ext cx="613800" cy="432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00C1FF-E9E1-3BC0-9B70-1F86F4A6B4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410" y="5275810"/>
                  <a:ext cx="6260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DF67B5-FE39-443A-D75B-177C274A5876}"/>
                    </a:ext>
                  </a:extLst>
                </p14:cNvPr>
                <p14:cNvContentPartPr/>
                <p14:nvPr/>
              </p14:nvContentPartPr>
              <p14:xfrm>
                <a:off x="996490" y="5790970"/>
                <a:ext cx="322200" cy="326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DF67B5-FE39-443A-D75B-177C274A58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0370" y="5784850"/>
                  <a:ext cx="334440" cy="33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43D382-29DA-8225-66AB-EBD4F0FC4D3C}"/>
                  </a:ext>
                </a:extLst>
              </p14:cNvPr>
              <p14:cNvContentPartPr/>
              <p14:nvPr/>
            </p14:nvContentPartPr>
            <p14:xfrm>
              <a:off x="1522450" y="5479570"/>
              <a:ext cx="126360" cy="302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43D382-29DA-8225-66AB-EBD4F0FC4D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16330" y="5473450"/>
                <a:ext cx="138600" cy="31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нужны жадные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Простые</a:t>
            </a:r>
            <a:r>
              <a:rPr dirty="0"/>
              <a:t> и </a:t>
            </a:r>
            <a:r>
              <a:rPr dirty="0" err="1"/>
              <a:t>быстрые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оптимум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O(n log n) </a:t>
            </a:r>
            <a:r>
              <a:rPr dirty="0" err="1"/>
              <a:t>или</a:t>
            </a:r>
            <a:r>
              <a:rPr dirty="0"/>
              <a:t> O(n)</a:t>
            </a:r>
          </a:p>
          <a:p>
            <a:r>
              <a:rPr dirty="0" err="1"/>
              <a:t>Очень</a:t>
            </a:r>
            <a:r>
              <a:rPr dirty="0"/>
              <a:t> </a:t>
            </a:r>
            <a:r>
              <a:rPr dirty="0" err="1"/>
              <a:t>популярны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алгоритмических</a:t>
            </a:r>
            <a:r>
              <a:rPr dirty="0"/>
              <a:t> </a:t>
            </a:r>
            <a:r>
              <a:rPr dirty="0" err="1"/>
              <a:t>собеседованиях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Опасность жадных алгоритмов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endParaRPr dirty="0"/>
          </a:p>
          <a:p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испортить</a:t>
            </a:r>
            <a:r>
              <a:rPr dirty="0"/>
              <a:t> </a:t>
            </a:r>
            <a:r>
              <a:rPr dirty="0" err="1"/>
              <a:t>глобальный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  <a:p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применять</a:t>
            </a:r>
            <a:r>
              <a:rPr dirty="0"/>
              <a:t> </a:t>
            </a:r>
            <a:r>
              <a:rPr dirty="0" err="1"/>
              <a:t>автоматически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Признаки применимости greedy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/ </a:t>
            </a:r>
            <a:r>
              <a:rPr dirty="0" err="1"/>
              <a:t>максимум</a:t>
            </a:r>
            <a:endParaRPr dirty="0"/>
          </a:p>
          <a:p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отсортировать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  <a:p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ухудшает</a:t>
            </a:r>
            <a:r>
              <a:rPr dirty="0"/>
              <a:t> </a:t>
            </a:r>
            <a:r>
              <a:rPr dirty="0" err="1"/>
              <a:t>будущее</a:t>
            </a:r>
            <a:r>
              <a:rPr dirty="0"/>
              <a:t> </a:t>
            </a:r>
            <a:r>
              <a:rPr dirty="0" err="1"/>
              <a:t>решение</a:t>
            </a:r>
            <a:endParaRPr dirty="0"/>
          </a:p>
          <a:p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последовательно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greedy НЕ подходит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будущих</a:t>
            </a:r>
            <a:r>
              <a:rPr dirty="0"/>
              <a:t> </a:t>
            </a:r>
            <a:r>
              <a:rPr dirty="0" err="1"/>
              <a:t>решений</a:t>
            </a:r>
            <a:endParaRPr dirty="0"/>
          </a:p>
          <a:p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 </a:t>
            </a:r>
            <a:r>
              <a:rPr dirty="0" err="1"/>
              <a:t>дальше</a:t>
            </a:r>
            <a:endParaRPr dirty="0"/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динамическое</a:t>
            </a:r>
            <a:r>
              <a:rPr dirty="0"/>
              <a:t> </a:t>
            </a:r>
            <a:r>
              <a:rPr dirty="0" err="1"/>
              <a:t>программирование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Как доказывают корректность greedy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Объяснение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формального</a:t>
            </a:r>
            <a:r>
              <a:rPr dirty="0"/>
              <a:t> </a:t>
            </a:r>
            <a:r>
              <a:rPr dirty="0" err="1"/>
              <a:t>доказательства</a:t>
            </a:r>
            <a:endParaRPr dirty="0"/>
          </a:p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безопасен</a:t>
            </a:r>
            <a:endParaRPr dirty="0"/>
          </a:p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частью</a:t>
            </a:r>
            <a:r>
              <a:rPr dirty="0"/>
              <a:t> </a:t>
            </a:r>
            <a:r>
              <a:rPr dirty="0" err="1"/>
              <a:t>оптимального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идеи доказательства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Exchange argument</a:t>
            </a:r>
            <a:br>
              <a:rPr lang="ru-RU" dirty="0"/>
            </a:br>
            <a:r>
              <a:rPr lang="ru-RU" dirty="0"/>
              <a:t>Любое оптимальное решение можно преобразовать в жадное без ухудшения.</a:t>
            </a:r>
          </a:p>
          <a:p>
            <a:r>
              <a:rPr lang="ru-RU" b="1" dirty="0"/>
              <a:t>Greedy stays ahead</a:t>
            </a:r>
            <a:br>
              <a:rPr lang="ru-RU" dirty="0"/>
            </a:br>
            <a:r>
              <a:rPr lang="ru-RU" dirty="0"/>
              <a:t>На каждом шаге жадное решение не хуже любого другого.</a:t>
            </a:r>
          </a:p>
          <a:p>
            <a:r>
              <a:rPr lang="ru-RU" b="1" dirty="0"/>
              <a:t>Оптимальная подструктура</a:t>
            </a:r>
            <a:br>
              <a:rPr lang="ru-RU" dirty="0"/>
            </a:br>
            <a:r>
              <a:rPr lang="ru-RU" dirty="0"/>
              <a:t>После жадного выбора остаётся задача того же типа.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greedy-паттерны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минимального</a:t>
            </a:r>
            <a:r>
              <a:rPr dirty="0"/>
              <a:t> / </a:t>
            </a:r>
            <a:r>
              <a:rPr dirty="0" err="1"/>
              <a:t>максимального</a:t>
            </a:r>
            <a:r>
              <a:rPr dirty="0"/>
              <a:t> </a:t>
            </a:r>
            <a:r>
              <a:rPr dirty="0" err="1"/>
              <a:t>допустимого</a:t>
            </a:r>
            <a:r>
              <a:rPr dirty="0"/>
              <a:t> </a:t>
            </a:r>
            <a:r>
              <a:rPr dirty="0" err="1"/>
              <a:t>элемента</a:t>
            </a:r>
            <a:endParaRPr dirty="0"/>
          </a:p>
          <a:p>
            <a:pPr lvl="1"/>
            <a:r>
              <a:rPr lang="ru-RU" dirty="0"/>
              <a:t>Сортировка + </a:t>
            </a:r>
            <a:r>
              <a:rPr lang="en-US" dirty="0"/>
              <a:t>one-pass (</a:t>
            </a:r>
            <a:r>
              <a:rPr lang="ru-RU" dirty="0"/>
              <a:t>один проход)</a:t>
            </a:r>
            <a:endParaRPr lang="en-US" dirty="0"/>
          </a:p>
          <a:p>
            <a:pPr lvl="1"/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указателя</a:t>
            </a:r>
            <a:endParaRPr dirty="0"/>
          </a:p>
          <a:p>
            <a:pPr lvl="1"/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«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лету</a:t>
            </a:r>
            <a:r>
              <a:rPr dirty="0"/>
              <a:t>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задач с greedy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Интервалы</a:t>
            </a:r>
            <a:r>
              <a:rPr dirty="0"/>
              <a:t> и </a:t>
            </a:r>
            <a:r>
              <a:rPr dirty="0" err="1"/>
              <a:t>расписания</a:t>
            </a:r>
            <a:endParaRPr dirty="0"/>
          </a:p>
          <a:p>
            <a:r>
              <a:rPr dirty="0" err="1"/>
              <a:t>Максимизация</a:t>
            </a:r>
            <a:r>
              <a:rPr dirty="0"/>
              <a:t> </a:t>
            </a:r>
            <a:r>
              <a:rPr dirty="0" err="1"/>
              <a:t>прибыли</a:t>
            </a:r>
            <a:endParaRPr dirty="0"/>
          </a:p>
          <a:p>
            <a:r>
              <a:rPr dirty="0" err="1"/>
              <a:t>Минимизация</a:t>
            </a:r>
            <a:r>
              <a:rPr dirty="0"/>
              <a:t> </a:t>
            </a:r>
            <a:r>
              <a:rPr dirty="0" err="1"/>
              <a:t>удалений</a:t>
            </a:r>
            <a:r>
              <a:rPr dirty="0"/>
              <a:t> / </a:t>
            </a:r>
            <a:r>
              <a:rPr dirty="0" err="1"/>
              <a:t>ресурсов</a:t>
            </a:r>
            <a:endParaRPr dirty="0"/>
          </a:p>
          <a:p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оптимального</a:t>
            </a:r>
            <a:r>
              <a:rPr dirty="0"/>
              <a:t> </a:t>
            </a:r>
            <a:r>
              <a:rPr dirty="0" err="1"/>
              <a:t>подмножества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Практика: LeetCode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lvl="1"/>
            <a:r>
              <a:rPr dirty="0"/>
              <a:t>435. Non-overlapping Intervals</a:t>
            </a:r>
            <a:endParaRPr lang="ru-RU" dirty="0"/>
          </a:p>
          <a:p>
            <a:pPr lvl="1"/>
            <a:r>
              <a:rPr lang="en-US" dirty="0"/>
              <a:t>455. Assign Cookies</a:t>
            </a:r>
            <a:endParaRPr dirty="0"/>
          </a:p>
          <a:p>
            <a:pPr lvl="1"/>
            <a:r>
              <a:rPr dirty="0"/>
              <a:t>121. Best Time to Buy and Sell Stock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 что смотрит интервьюер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выбран</a:t>
            </a:r>
            <a:r>
              <a:rPr dirty="0"/>
              <a:t> greedy</a:t>
            </a:r>
          </a:p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корректен</a:t>
            </a:r>
            <a:endParaRPr dirty="0"/>
          </a:p>
          <a:p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и </a:t>
            </a:r>
            <a:r>
              <a:rPr dirty="0" err="1"/>
              <a:t>памяти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Использовать</a:t>
            </a:r>
            <a:r>
              <a:rPr dirty="0"/>
              <a:t> greedy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доказательства</a:t>
            </a:r>
            <a:endParaRPr dirty="0"/>
          </a:p>
          <a:p>
            <a:r>
              <a:rPr dirty="0" err="1"/>
              <a:t>Неправильный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сортировки</a:t>
            </a:r>
            <a:endParaRPr dirty="0"/>
          </a:p>
          <a:p>
            <a:r>
              <a:rPr dirty="0" err="1"/>
              <a:t>Путать</a:t>
            </a:r>
            <a:r>
              <a:rPr dirty="0"/>
              <a:t> greedy и DP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Greedy — </a:t>
            </a:r>
            <a:r>
              <a:rPr dirty="0" err="1"/>
              <a:t>мощный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универсальный</a:t>
            </a:r>
            <a:r>
              <a:rPr dirty="0"/>
              <a:t> </a:t>
            </a:r>
            <a:r>
              <a:rPr dirty="0" err="1"/>
              <a:t>инструмент</a:t>
            </a:r>
            <a:endParaRPr dirty="0"/>
          </a:p>
          <a:p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распознавать</a:t>
            </a:r>
            <a:r>
              <a:rPr dirty="0"/>
              <a:t> </a:t>
            </a:r>
            <a:r>
              <a:rPr dirty="0" err="1"/>
              <a:t>применимость</a:t>
            </a:r>
            <a:endParaRPr dirty="0"/>
          </a:p>
          <a:p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навык</a:t>
            </a:r>
            <a:r>
              <a:rPr dirty="0"/>
              <a:t> — </a:t>
            </a:r>
            <a:r>
              <a:rPr dirty="0" err="1"/>
              <a:t>объяснение</a:t>
            </a:r>
            <a:r>
              <a:rPr dirty="0"/>
              <a:t> </a:t>
            </a:r>
            <a:r>
              <a:rPr dirty="0" err="1"/>
              <a:t>корректности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283</Words>
  <Application>Microsoft Office PowerPoint</Application>
  <PresentationFormat>On-screen Show (4:3)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Жадные алгоритмы</vt:lpstr>
      <vt:lpstr>Что такое жадный алгоритм</vt:lpstr>
      <vt:lpstr>Зачем нужны жадные алгоритмы</vt:lpstr>
      <vt:lpstr>Опасность жадных алгоритмов</vt:lpstr>
      <vt:lpstr>Признаки применимости greedy</vt:lpstr>
      <vt:lpstr>Когда greedy НЕ подходит</vt:lpstr>
      <vt:lpstr>Как доказывают корректность greedy</vt:lpstr>
      <vt:lpstr>Основные идеи доказательства</vt:lpstr>
      <vt:lpstr>Типовые greedy-паттерны</vt:lpstr>
      <vt:lpstr>Типы задач с greedy</vt:lpstr>
      <vt:lpstr>Практика: LeetCode</vt:lpstr>
      <vt:lpstr>На что смотрит интервьюер</vt:lpstr>
      <vt:lpstr>Типичные ошибки</vt:lpstr>
      <vt:lpstr>Итоги занятия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4</cp:revision>
  <dcterms:created xsi:type="dcterms:W3CDTF">2013-01-27T09:14:16Z</dcterms:created>
  <dcterms:modified xsi:type="dcterms:W3CDTF">2026-02-07T10:42:54Z</dcterms:modified>
  <cp:category/>
</cp:coreProperties>
</file>