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71" r:id="rId4"/>
    <p:sldId id="257" r:id="rId5"/>
    <p:sldId id="272" r:id="rId6"/>
    <p:sldId id="258" r:id="rId7"/>
    <p:sldId id="259" r:id="rId8"/>
    <p:sldId id="273" r:id="rId9"/>
    <p:sldId id="260" r:id="rId10"/>
    <p:sldId id="261" r:id="rId11"/>
    <p:sldId id="274" r:id="rId12"/>
    <p:sldId id="275" r:id="rId13"/>
    <p:sldId id="262" r:id="rId14"/>
    <p:sldId id="263" r:id="rId15"/>
    <p:sldId id="264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6" autoAdjust="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640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search-insert-position/" TargetMode="External"/><Relationship Id="rId2" Type="http://schemas.openxmlformats.org/officeDocument/2006/relationships/hyperlink" Target="https://leetcode.com/problems/first-bad-version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Алгоритмы</a:t>
            </a:r>
            <a:r>
              <a:rPr dirty="0"/>
              <a:t> и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r>
              <a:rPr dirty="0" err="1"/>
              <a:t>Занятие</a:t>
            </a:r>
            <a:r>
              <a:rPr dirty="0"/>
              <a:t>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Бинарный и линейный поиск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изучить ограничения линейного поиска</a:t>
            </a:r>
          </a:p>
          <a:p>
            <a:r>
              <a:rPr lang="ru-RU" dirty="0"/>
              <a:t>осознать </a:t>
            </a:r>
            <a:r>
              <a:rPr lang="ru-RU" b="1" dirty="0"/>
              <a:t>идею бинарного поиска концептуально</a:t>
            </a:r>
          </a:p>
          <a:p>
            <a:r>
              <a:rPr lang="ru-RU" dirty="0"/>
              <a:t>понять классический бинарный поиск и его сложность</a:t>
            </a:r>
          </a:p>
          <a:p>
            <a:r>
              <a:rPr lang="ru-RU" dirty="0"/>
              <a:t>узнать об области применения бинарного поиска</a:t>
            </a:r>
          </a:p>
          <a:p>
            <a:r>
              <a:rPr lang="ru-RU" dirty="0"/>
              <a:t>научиться распознавать монотонность в задачах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8F20A-F04E-6A04-DB53-204A4DC16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E859E-0A44-6EBF-60B2-BCB372E9D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Линейный</a:t>
            </a:r>
            <a:r>
              <a:rPr dirty="0"/>
              <a:t> </a:t>
            </a:r>
            <a:r>
              <a:rPr dirty="0" err="1"/>
              <a:t>поиск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5FF9F-6251-08B2-E2DC-A32D32C41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Идея:</a:t>
            </a:r>
          </a:p>
          <a:p>
            <a:r>
              <a:rPr lang="ru-RU" dirty="0"/>
              <a:t>идём по элементам по одному</a:t>
            </a:r>
          </a:p>
          <a:p>
            <a:r>
              <a:rPr lang="ru-RU" dirty="0"/>
              <a:t>сравниваем с целевым значением</a:t>
            </a:r>
          </a:p>
          <a:p>
            <a:r>
              <a:rPr lang="ru-RU" dirty="0"/>
              <a:t>в худшем случае — проверяем всё</a:t>
            </a:r>
          </a:p>
        </p:txBody>
      </p:sp>
    </p:spTree>
    <p:extLst>
      <p:ext uri="{BB962C8B-B14F-4D97-AF65-F5344CB8AC3E}">
        <p14:creationId xmlns:p14="http://schemas.microsoft.com/office/powerpoint/2010/main" val="762591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Линейный поиск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Последовательный</a:t>
            </a:r>
            <a:r>
              <a:rPr dirty="0"/>
              <a:t> </a:t>
            </a:r>
            <a:r>
              <a:rPr dirty="0" err="1"/>
              <a:t>просмотр</a:t>
            </a:r>
            <a:r>
              <a:rPr dirty="0"/>
              <a:t> </a:t>
            </a:r>
            <a:r>
              <a:rPr dirty="0" err="1"/>
              <a:t>элементов</a:t>
            </a:r>
            <a:endParaRPr dirty="0"/>
          </a:p>
          <a:p>
            <a:r>
              <a:rPr dirty="0" err="1"/>
              <a:t>Временная</a:t>
            </a:r>
            <a:r>
              <a:rPr dirty="0"/>
              <a:t> </a:t>
            </a:r>
            <a:r>
              <a:rPr dirty="0" err="1"/>
              <a:t>сложность</a:t>
            </a:r>
            <a:r>
              <a:rPr dirty="0"/>
              <a:t>: O(n)</a:t>
            </a:r>
          </a:p>
          <a:p>
            <a:r>
              <a:rPr dirty="0" err="1"/>
              <a:t>Простота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плохая</a:t>
            </a:r>
            <a:r>
              <a:rPr dirty="0"/>
              <a:t> </a:t>
            </a:r>
            <a:r>
              <a:rPr dirty="0" err="1"/>
              <a:t>масштабируемость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383BD-4D4E-35DD-0BFB-82A9747A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C6E91-3C61-202A-7C0B-9E49713C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Линейный поиск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BDD15-925D-3B74-AA1F-3C68BA417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Какие проблемы существуют?</a:t>
            </a:r>
          </a:p>
          <a:p>
            <a:r>
              <a:rPr lang="ru-RU" dirty="0"/>
              <a:t>что если n = 1 000 000?</a:t>
            </a:r>
          </a:p>
          <a:p>
            <a:r>
              <a:rPr lang="ru-RU" dirty="0"/>
              <a:t>что если поиск нужно делать много раз?</a:t>
            </a:r>
          </a:p>
          <a:p>
            <a:r>
              <a:rPr lang="ru-RU" dirty="0"/>
              <a:t>что если данные </a:t>
            </a:r>
            <a:r>
              <a:rPr lang="ru-RU" b="1" dirty="0"/>
              <a:t>отсортированы</a:t>
            </a:r>
            <a:r>
              <a:rPr lang="ru-RU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65127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Ограничения линейного поиска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Какие проблемы существуют?</a:t>
            </a:r>
          </a:p>
          <a:p>
            <a:r>
              <a:rPr dirty="0" err="1"/>
              <a:t>Большие</a:t>
            </a:r>
            <a:r>
              <a:rPr dirty="0"/>
              <a:t> </a:t>
            </a:r>
            <a:r>
              <a:rPr dirty="0" err="1"/>
              <a:t>входные</a:t>
            </a:r>
            <a:r>
              <a:rPr dirty="0"/>
              <a:t> </a:t>
            </a:r>
            <a:r>
              <a:rPr dirty="0" err="1"/>
              <a:t>данные</a:t>
            </a:r>
            <a:endParaRPr dirty="0"/>
          </a:p>
          <a:p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повторных</a:t>
            </a:r>
            <a:r>
              <a:rPr dirty="0"/>
              <a:t> </a:t>
            </a:r>
            <a:r>
              <a:rPr dirty="0" err="1"/>
              <a:t>запросов</a:t>
            </a:r>
            <a:endParaRPr dirty="0"/>
          </a:p>
          <a:p>
            <a:r>
              <a:rPr dirty="0" err="1"/>
              <a:t>Отсортированные</a:t>
            </a:r>
            <a:r>
              <a:rPr dirty="0"/>
              <a:t> </a:t>
            </a:r>
            <a:r>
              <a:rPr dirty="0" err="1"/>
              <a:t>данные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Идея бинарного поиска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Делим</a:t>
            </a:r>
            <a:r>
              <a:rPr dirty="0"/>
              <a:t> </a:t>
            </a:r>
            <a:r>
              <a:rPr dirty="0" err="1"/>
              <a:t>пространство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</a:t>
            </a:r>
            <a:r>
              <a:rPr dirty="0" err="1"/>
              <a:t>пополам</a:t>
            </a:r>
            <a:endParaRPr dirty="0"/>
          </a:p>
          <a:p>
            <a:r>
              <a:rPr dirty="0" err="1"/>
              <a:t>Отбрасываем</a:t>
            </a:r>
            <a:r>
              <a:rPr dirty="0"/>
              <a:t> </a:t>
            </a:r>
            <a:r>
              <a:rPr dirty="0" err="1"/>
              <a:t>невозможную</a:t>
            </a:r>
            <a:r>
              <a:rPr dirty="0"/>
              <a:t> </a:t>
            </a:r>
            <a:r>
              <a:rPr dirty="0" err="1"/>
              <a:t>половину</a:t>
            </a:r>
            <a:endParaRPr dirty="0"/>
          </a:p>
          <a:p>
            <a:r>
              <a:rPr dirty="0" err="1"/>
              <a:t>Повторяем</a:t>
            </a:r>
            <a:r>
              <a:rPr lang="ru-RU" dirty="0"/>
              <a:t>, пока не найдем искомый элемент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Другими словами</a:t>
            </a:r>
            <a:r>
              <a:rPr lang="en-US" dirty="0"/>
              <a:t>:</a:t>
            </a:r>
          </a:p>
          <a:p>
            <a:r>
              <a:rPr lang="ru-RU" dirty="0"/>
              <a:t>угадывание числа от 1 до 100;</a:t>
            </a:r>
          </a:p>
          <a:p>
            <a:r>
              <a:rPr lang="ru-RU" dirty="0"/>
              <a:t>вопрос: «больше или меньше 50?»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ABF7D-3634-E10A-5F51-2DA8CA58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A62A-DAC0-1DD9-80FC-B4CFAD2C3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</a:t>
            </a:r>
            <a:r>
              <a:rPr dirty="0"/>
              <a:t> </a:t>
            </a:r>
            <a:r>
              <a:rPr dirty="0" err="1"/>
              <a:t>бинарного</a:t>
            </a:r>
            <a:r>
              <a:rPr dirty="0"/>
              <a:t> </a:t>
            </a:r>
            <a:r>
              <a:rPr dirty="0" err="1"/>
              <a:t>поиска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D6424D-DE7B-3BCC-CEE1-2FE65A1EE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1" y="1539565"/>
            <a:ext cx="8686800" cy="418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851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Сложность бинарного поиска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Временная</a:t>
            </a:r>
            <a:r>
              <a:rPr dirty="0"/>
              <a:t> </a:t>
            </a:r>
            <a:r>
              <a:rPr dirty="0" err="1"/>
              <a:t>сложность</a:t>
            </a:r>
            <a:r>
              <a:rPr dirty="0"/>
              <a:t>: O(log n)</a:t>
            </a:r>
            <a:r>
              <a:rPr lang="en-US" dirty="0"/>
              <a:t> </a:t>
            </a:r>
            <a:endParaRPr dirty="0"/>
          </a:p>
          <a:p>
            <a:r>
              <a:rPr dirty="0" err="1"/>
              <a:t>Пространственная</a:t>
            </a:r>
            <a:r>
              <a:rPr dirty="0"/>
              <a:t> </a:t>
            </a:r>
            <a:r>
              <a:rPr dirty="0" err="1"/>
              <a:t>сложность</a:t>
            </a:r>
            <a:r>
              <a:rPr dirty="0"/>
              <a:t>: O(1)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logN</a:t>
            </a:r>
            <a:r>
              <a:rPr lang="en-US" dirty="0"/>
              <a:t> </a:t>
            </a:r>
            <a:r>
              <a:rPr lang="ru-RU" dirty="0"/>
              <a:t>растёт </a:t>
            </a:r>
            <a:r>
              <a:rPr lang="ru-RU" b="1" dirty="0"/>
              <a:t>очень медленно</a:t>
            </a:r>
            <a:r>
              <a:rPr lang="ru-RU" dirty="0"/>
              <a:t>, поэтому бинарный поиск – один из самых сильных приемов оптимизации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бинарный поиск сложен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Границы</a:t>
            </a:r>
            <a:r>
              <a:rPr dirty="0"/>
              <a:t> left / right</a:t>
            </a:r>
          </a:p>
          <a:p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выхода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цикла</a:t>
            </a:r>
            <a:endParaRPr dirty="0"/>
          </a:p>
          <a:p>
            <a:r>
              <a:rPr dirty="0"/>
              <a:t>Off-by-one </a:t>
            </a:r>
            <a:r>
              <a:rPr dirty="0" err="1"/>
              <a:t>ошибки</a:t>
            </a:r>
            <a:r>
              <a:rPr lang="ru-RU" dirty="0"/>
              <a:t> (что возвращаем?)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Нужен шаблон, который можно будет использовать поняв – чтобы не допустить ошибку в самом алгоритме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496D1-159D-39EF-9CC2-40ED888F5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82B6-57CE-70C1-3718-4DAB62C7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 бинарного поиска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ACBF1-4F65-7A90-2A79-43EA563DC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 latinLnBrk="1">
              <a:buNone/>
            </a:pPr>
            <a:r>
              <a:rPr lang="ru-RU" b="0" i="0" dirty="0">
                <a:solidFill>
                  <a:srgbClr val="263238"/>
                </a:solidFill>
                <a:effectLst/>
                <a:latin typeface="SFMono-Regular"/>
              </a:rPr>
              <a:t>    </a:t>
            </a:r>
            <a:r>
              <a:rPr lang="en-US" b="0" i="0" dirty="0">
                <a:solidFill>
                  <a:schemeClr val="accent4"/>
                </a:solidFill>
                <a:effectLst/>
                <a:latin typeface="SFMono-Regular"/>
              </a:rPr>
              <a:t>def condition(value) -&gt; bool:</a:t>
            </a:r>
          </a:p>
          <a:p>
            <a:pPr algn="l" latinLnBrk="1">
              <a:buNone/>
            </a:pPr>
            <a:r>
              <a:rPr lang="en-US" b="0" i="0" dirty="0">
                <a:solidFill>
                  <a:schemeClr val="accent4"/>
                </a:solidFill>
                <a:effectLst/>
                <a:latin typeface="SFMono-Regular"/>
              </a:rPr>
              <a:t>        pass</a:t>
            </a:r>
          </a:p>
          <a:p>
            <a:pPr algn="l" latinLnBrk="1">
              <a:buNone/>
            </a:pPr>
            <a:endParaRPr lang="en-US" b="0" i="0" dirty="0">
              <a:solidFill>
                <a:srgbClr val="263238"/>
              </a:solidFill>
              <a:effectLst/>
              <a:latin typeface="SFMono-Regular"/>
            </a:endParaRP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</a:t>
            </a:r>
            <a:r>
              <a:rPr lang="en-US" b="0" i="0" dirty="0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left, right = min(</a:t>
            </a:r>
            <a:r>
              <a:rPr lang="en-US" b="0" i="0" dirty="0" err="1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search_space</a:t>
            </a:r>
            <a:r>
              <a:rPr lang="en-US" b="0" i="0" dirty="0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), max(</a:t>
            </a:r>
            <a:r>
              <a:rPr lang="en-US" b="0" i="0" dirty="0" err="1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search_space</a:t>
            </a:r>
            <a:r>
              <a:rPr lang="en-US" b="0" i="0" dirty="0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) </a:t>
            </a:r>
            <a:endParaRPr lang="ru-RU" b="0" i="0" dirty="0">
              <a:solidFill>
                <a:schemeClr val="accent3">
                  <a:lumMod val="75000"/>
                </a:schemeClr>
              </a:solidFill>
              <a:effectLst/>
              <a:latin typeface="SFMono-Regular"/>
            </a:endParaRPr>
          </a:p>
          <a:p>
            <a:pPr algn="l" latinLnBrk="1">
              <a:buNone/>
            </a:pPr>
            <a:r>
              <a:rPr lang="ru-RU" b="0" i="0" dirty="0">
                <a:solidFill>
                  <a:srgbClr val="263238"/>
                </a:solidFill>
                <a:effectLst/>
                <a:latin typeface="SFMono-Regular"/>
              </a:rPr>
              <a:t>    </a:t>
            </a: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while left &lt; right: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mid = left + (right - left) // 2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if condition(mid):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    right = mid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else: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    left = mid + 1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</a:t>
            </a:r>
            <a:r>
              <a:rPr lang="en-US" b="0" i="0" dirty="0">
                <a:solidFill>
                  <a:schemeClr val="accent2"/>
                </a:solidFill>
                <a:effectLst/>
                <a:latin typeface="SFMono-Regular"/>
              </a:rPr>
              <a:t>return left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409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18673-2935-F7F9-8600-AF255F187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1669-C3DD-0D3A-F617-9C83BBBC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 бинарного поиска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E1BFA-CAF7-37A4-E8B7-4214AA55F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319247" cy="4525963"/>
          </a:xfrm>
        </p:spPr>
        <p:txBody>
          <a:bodyPr>
            <a:normAutofit/>
          </a:bodyPr>
          <a:lstStyle/>
          <a:p>
            <a:pPr algn="l" latinLnBrk="1">
              <a:buNone/>
            </a:pPr>
            <a:r>
              <a:rPr lang="ru-RU" b="0" i="0" dirty="0">
                <a:solidFill>
                  <a:srgbClr val="263238"/>
                </a:solidFill>
                <a:effectLst/>
                <a:latin typeface="SFMono-Regular"/>
              </a:rPr>
              <a:t>    Надо правильно реализовать 3 части</a:t>
            </a: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:</a:t>
            </a:r>
            <a:endParaRPr lang="ru-RU" b="0" i="0" dirty="0">
              <a:solidFill>
                <a:srgbClr val="263238"/>
              </a:solidFill>
              <a:effectLst/>
              <a:latin typeface="SFMono-Regular"/>
            </a:endParaRPr>
          </a:p>
          <a:p>
            <a:pPr marL="514350" indent="-514350" algn="l" latinLnBrk="1">
              <a:buAutoNum type="arabicPeriod"/>
            </a:pPr>
            <a:r>
              <a:rPr lang="ru-RU" dirty="0">
                <a:solidFill>
                  <a:schemeClr val="accent3"/>
                </a:solidFill>
                <a:latin typeface="SFMono-Regular"/>
              </a:rPr>
              <a:t>Границы (</a:t>
            </a:r>
            <a:r>
              <a:rPr lang="en-US" dirty="0">
                <a:solidFill>
                  <a:schemeClr val="accent3"/>
                </a:solidFill>
                <a:latin typeface="SFMono-Regular"/>
              </a:rPr>
              <a:t>left, right)</a:t>
            </a:r>
            <a:r>
              <a:rPr lang="en-US" dirty="0">
                <a:solidFill>
                  <a:srgbClr val="263238"/>
                </a:solidFill>
                <a:latin typeface="SFMono-Regular"/>
              </a:rPr>
              <a:t>. </a:t>
            </a:r>
            <a:r>
              <a:rPr lang="ru-RU" dirty="0">
                <a:solidFill>
                  <a:srgbClr val="263238"/>
                </a:solidFill>
                <a:latin typeface="SFMono-Regular"/>
              </a:rPr>
              <a:t>Должны включать </a:t>
            </a:r>
            <a:r>
              <a:rPr lang="ru-RU" b="1" dirty="0">
                <a:solidFill>
                  <a:srgbClr val="263238"/>
                </a:solidFill>
                <a:latin typeface="SFMono-Regular"/>
              </a:rPr>
              <a:t>все   возможные значения поиска</a:t>
            </a:r>
          </a:p>
          <a:p>
            <a:pPr marL="514350" indent="-514350" algn="l" latinLnBrk="1">
              <a:buAutoNum type="arabicPeriod"/>
            </a:pPr>
            <a:r>
              <a:rPr lang="ru-RU" dirty="0">
                <a:solidFill>
                  <a:schemeClr val="accent2"/>
                </a:solidFill>
              </a:rPr>
              <a:t>Возвращаемое значение </a:t>
            </a:r>
            <a:r>
              <a:rPr lang="ru-RU" dirty="0"/>
              <a:t>(</a:t>
            </a:r>
            <a:r>
              <a:rPr lang="en-US" dirty="0"/>
              <a:t>left, left-1)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выхода из цикла, </a:t>
            </a:r>
            <a:r>
              <a:rPr lang="en-US" b="1" dirty="0"/>
              <a:t>left – </a:t>
            </a:r>
            <a:r>
              <a:rPr lang="ru-RU" b="1" dirty="0"/>
              <a:t>это минимальный     элемент, удовлетворяющий условию </a:t>
            </a:r>
          </a:p>
          <a:p>
            <a:pPr marL="514350" indent="-514350" algn="l" latinLnBrk="1">
              <a:buAutoNum type="arabicPeriod"/>
            </a:pPr>
            <a:r>
              <a:rPr lang="ru-RU" dirty="0">
                <a:solidFill>
                  <a:schemeClr val="accent4"/>
                </a:solidFill>
              </a:rPr>
              <a:t>Функция проверки условия</a:t>
            </a:r>
            <a:r>
              <a:rPr lang="ru-RU" dirty="0"/>
              <a:t>. Это самая         сложная часть – требует много практики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6944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Обобщённая формулировка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Бинарный поиск – это про поиск в массиве. </a:t>
            </a:r>
            <a:r>
              <a:rPr lang="ru-RU" b="1" dirty="0"/>
              <a:t>Это совсем не так</a:t>
            </a:r>
            <a:r>
              <a:rPr lang="ru-RU" dirty="0"/>
              <a:t>. У него гораздо больше применений в задачах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Практически все задачи бинарного поиска можно привести к форме (даже неочевидные)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ru-RU" b="1" dirty="0"/>
              <a:t>Найти минимальное k, такое что</a:t>
            </a:r>
          </a:p>
          <a:p>
            <a:pPr marL="0" indent="0">
              <a:buNone/>
            </a:pPr>
            <a:r>
              <a:rPr lang="ru-RU" b="1" dirty="0"/>
              <a:t>condition(k) == True</a:t>
            </a:r>
            <a:endParaRPr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Монотонность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Когда можно применить бинарный поиск?</a:t>
            </a:r>
          </a:p>
          <a:p>
            <a:r>
              <a:rPr lang="ru-RU" dirty="0"/>
              <a:t>Если есть монотонность — возможен бинарный поиск</a:t>
            </a:r>
          </a:p>
          <a:p>
            <a:r>
              <a:rPr dirty="0"/>
              <a:t>False, False, False, True, True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Именно поэтому очень важно научиться создавать верные функции-проверки для бинарного поиска. </a:t>
            </a:r>
            <a:r>
              <a:rPr lang="ru-RU" b="1" dirty="0"/>
              <a:t>Именно они создают монотонность</a:t>
            </a:r>
            <a:endParaRPr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Пример</a:t>
            </a:r>
            <a:r>
              <a:rPr lang="ru-RU" dirty="0"/>
              <a:t>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i="0" dirty="0">
                <a:effectLst/>
                <a:latin typeface="-apple-system"/>
                <a:hlinkClick r:id="rId2"/>
              </a:rPr>
              <a:t>278 First Bad Version</a:t>
            </a:r>
            <a:r>
              <a:rPr lang="en-US" i="0" dirty="0">
                <a:effectLst/>
                <a:latin typeface="-apple-system"/>
              </a:rPr>
              <a:t> – </a:t>
            </a:r>
            <a:r>
              <a:rPr lang="ru-RU" dirty="0">
                <a:latin typeface="-apple-system"/>
              </a:rPr>
              <a:t>на демонстрацию</a:t>
            </a:r>
          </a:p>
          <a:p>
            <a:pPr marL="514350" indent="-514350">
              <a:buAutoNum type="arabicPeriod"/>
            </a:pPr>
            <a:r>
              <a:rPr lang="en-US" dirty="0">
                <a:hlinkClick r:id="rId3"/>
              </a:rPr>
              <a:t>35 Search Insert Position</a:t>
            </a:r>
            <a:r>
              <a:rPr lang="ru-RU" dirty="0"/>
              <a:t> – лайв кодинг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Процесс на собеседовании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Понять условие</a:t>
            </a:r>
          </a:p>
          <a:p>
            <a:r>
              <a:t>Придумать condition</a:t>
            </a:r>
          </a:p>
          <a:p>
            <a:r>
              <a:t>Определить границы</a:t>
            </a:r>
          </a:p>
          <a:p>
            <a:r>
              <a:t>Подтвердить решение</a:t>
            </a:r>
          </a:p>
          <a:p>
            <a:r>
              <a:t>Только потом код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Бинарный поиск — универсальный приём</a:t>
            </a:r>
          </a:p>
          <a:p>
            <a:r>
              <a:t>Ключ: монотонность + границы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477</Words>
  <Application>Microsoft Office PowerPoint</Application>
  <PresentationFormat>On-screen Show (4:3)</PresentationFormat>
  <Paragraphs>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-apple-system</vt:lpstr>
      <vt:lpstr>Arial</vt:lpstr>
      <vt:lpstr>Calibri</vt:lpstr>
      <vt:lpstr>SFMono-Regular</vt:lpstr>
      <vt:lpstr>Office Theme</vt:lpstr>
      <vt:lpstr>Алгоритмы и структуры данных Занятие 4</vt:lpstr>
      <vt:lpstr>Цели занятия</vt:lpstr>
      <vt:lpstr>Линейный поиск</vt:lpstr>
      <vt:lpstr>Линейный поиск</vt:lpstr>
      <vt:lpstr>Линейный поиск</vt:lpstr>
      <vt:lpstr>Ограничения линейного поиска</vt:lpstr>
      <vt:lpstr>Идея бинарного поиска</vt:lpstr>
      <vt:lpstr>Идея бинарного поиска</vt:lpstr>
      <vt:lpstr>Сложность бинарного поиска</vt:lpstr>
      <vt:lpstr>Почему бинарный поиск сложен</vt:lpstr>
      <vt:lpstr>Шаблон бинарного поиска</vt:lpstr>
      <vt:lpstr>Шаблон бинарного поиска</vt:lpstr>
      <vt:lpstr>Обобщённая формулировка</vt:lpstr>
      <vt:lpstr>Монотонность</vt:lpstr>
      <vt:lpstr>Примеры</vt:lpstr>
      <vt:lpstr>Процесс на собеседовании</vt:lpstr>
      <vt:lpstr>Итоги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5</cp:revision>
  <dcterms:created xsi:type="dcterms:W3CDTF">2013-01-27T09:14:16Z</dcterms:created>
  <dcterms:modified xsi:type="dcterms:W3CDTF">2026-01-15T06:59:33Z</dcterms:modified>
  <cp:category/>
</cp:coreProperties>
</file>